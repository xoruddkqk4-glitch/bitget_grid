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7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0197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864" y="1234440"/>
            <a:ext cx="658368" cy="5394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8745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매매동반자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0" y="2395728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B9B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COMPANIONS GROUP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453128" y="2889504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EFEADB"/>
          </a:solidFill>
          <a:ln w="12700">
            <a:solidFill>
              <a:srgbClr val="C9A8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4453128" y="288950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비트겟 자동매매 과정  ·  1주차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3474720"/>
            <a:ext cx="12191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비트겟 UI 완전정복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0" y="44805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4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구조 · 지갑과 자산 이동 · 선물 주문창 · 자금 흐름 확인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9B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자료는 거래소 사용법 안내 교육용이며 투자 권유가 아닙니다  ·  선물·레버리지 거래는 큰 손실 위험을 동반합니다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 ·   1주차 학습 목표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1주차에 다루는 6가지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거래소를 고르는 기준부터 화면 구조·주문창·자산 확인까지, 봇을 붙이기 전에 필요한 기본기를 익힙니다.</a:t>
            </a:r>
            <a:endParaRPr lang="en-US" sz="1400" dirty="0"/>
          </a:p>
        </p:txBody>
      </p:sp>
      <p:pic>
        <p:nvPicPr>
          <p:cNvPr id="5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28232"/>
            <a:ext cx="256032" cy="2103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매매동반자  ·  비트겟 자동매매 과정 1주차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1883664"/>
            <a:ext cx="3529584" cy="1773936"/>
          </a:xfrm>
          <a:prstGeom prst="roundRect">
            <a:avLst>
              <a:gd name="adj" fmla="val 3608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58952" y="2157984"/>
            <a:ext cx="658368" cy="658368"/>
          </a:xfrm>
          <a:prstGeom prst="ellipse">
            <a:avLst/>
          </a:prstGeom>
          <a:solidFill>
            <a:srgbClr val="EFEADB"/>
          </a:solidFill>
          <a:ln w="12700">
            <a:solidFill>
              <a:srgbClr val="EFEA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58952" y="21579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2980944" y="212140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E2D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758952" y="296265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비트겟인가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58952" y="32735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수수료 구조와 준비금 비율로 거래소를 고르는 기준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66928" y="1883664"/>
            <a:ext cx="3401568" cy="9144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4315968" y="1883664"/>
            <a:ext cx="3529584" cy="1773936"/>
          </a:xfrm>
          <a:prstGeom prst="roundRect">
            <a:avLst>
              <a:gd name="adj" fmla="val 3608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572000" y="2157984"/>
            <a:ext cx="658368" cy="658368"/>
          </a:xfrm>
          <a:prstGeom prst="ellipse">
            <a:avLst/>
          </a:prstGeom>
          <a:solidFill>
            <a:srgbClr val="EFEADB"/>
          </a:solidFill>
          <a:ln w="12700">
            <a:solidFill>
              <a:srgbClr val="EFEA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4572000" y="21579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6793992" y="212140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E2D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572000" y="296265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준비금 · 머클트리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4572000" y="32735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자산이 안전한지 스스로 확인하는 방법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379976" y="1883664"/>
            <a:ext cx="3401568" cy="9144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8129016" y="1883664"/>
            <a:ext cx="3529584" cy="1773936"/>
          </a:xfrm>
          <a:prstGeom prst="roundRect">
            <a:avLst>
              <a:gd name="adj" fmla="val 3608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8385048" y="2157984"/>
            <a:ext cx="658368" cy="658368"/>
          </a:xfrm>
          <a:prstGeom prst="ellipse">
            <a:avLst/>
          </a:prstGeom>
          <a:solidFill>
            <a:srgbClr val="EFEADB"/>
          </a:solidFill>
          <a:ln w="12700">
            <a:solidFill>
              <a:srgbClr val="EFEA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8385048" y="21579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10607040" y="212140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E2D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8385048" y="296265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구조 한눈에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8385048" y="32735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상단 메뉴와 우상단 아이콘의 역할 파악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8193024" y="1883664"/>
            <a:ext cx="3401568" cy="9144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502920" y="3895344"/>
            <a:ext cx="3529584" cy="1773936"/>
          </a:xfrm>
          <a:prstGeom prst="roundRect">
            <a:avLst>
              <a:gd name="adj" fmla="val 3608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/>
          <p:cNvSpPr/>
          <p:nvPr/>
        </p:nvSpPr>
        <p:spPr>
          <a:xfrm>
            <a:off x="758952" y="4169664"/>
            <a:ext cx="658368" cy="658368"/>
          </a:xfrm>
          <a:prstGeom prst="ellipse">
            <a:avLst/>
          </a:prstGeom>
          <a:solidFill>
            <a:srgbClr val="EFEADB"/>
          </a:solidFill>
          <a:ln w="12700">
            <a:solidFill>
              <a:srgbClr val="EFEA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758952" y="41696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👛</a:t>
            </a:r>
            <a:endParaRPr lang="en-US" sz="1700" dirty="0"/>
          </a:p>
        </p:txBody>
      </p:sp>
      <p:sp>
        <p:nvSpPr>
          <p:cNvPr id="32" name="Text 29"/>
          <p:cNvSpPr/>
          <p:nvPr/>
        </p:nvSpPr>
        <p:spPr>
          <a:xfrm>
            <a:off x="2980944" y="413308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E2D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33" name="Text 30"/>
          <p:cNvSpPr/>
          <p:nvPr/>
        </p:nvSpPr>
        <p:spPr>
          <a:xfrm>
            <a:off x="758952" y="497433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지갑과 자산 이동</a:t>
            </a:r>
            <a:endParaRPr lang="en-US" sz="1450" dirty="0"/>
          </a:p>
        </p:txBody>
      </p:sp>
      <p:sp>
        <p:nvSpPr>
          <p:cNvPr id="34" name="Text 31"/>
          <p:cNvSpPr/>
          <p:nvPr/>
        </p:nvSpPr>
        <p:spPr>
          <a:xfrm>
            <a:off x="758952" y="528523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입금 · 출금 · Transfer와 지갑 종류 구분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566928" y="3895344"/>
            <a:ext cx="3401568" cy="9144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3"/>
          <p:cNvSpPr/>
          <p:nvPr/>
        </p:nvSpPr>
        <p:spPr>
          <a:xfrm>
            <a:off x="4315968" y="3895344"/>
            <a:ext cx="3529584" cy="1773936"/>
          </a:xfrm>
          <a:prstGeom prst="roundRect">
            <a:avLst>
              <a:gd name="adj" fmla="val 3608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4"/>
          <p:cNvSpPr/>
          <p:nvPr/>
        </p:nvSpPr>
        <p:spPr>
          <a:xfrm>
            <a:off x="4572000" y="4169664"/>
            <a:ext cx="658368" cy="658368"/>
          </a:xfrm>
          <a:prstGeom prst="ellipse">
            <a:avLst/>
          </a:prstGeom>
          <a:solidFill>
            <a:srgbClr val="EFEADB"/>
          </a:solidFill>
          <a:ln w="12700">
            <a:solidFill>
              <a:srgbClr val="EFEA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4572000" y="41696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1700" dirty="0"/>
          </a:p>
        </p:txBody>
      </p:sp>
      <p:sp>
        <p:nvSpPr>
          <p:cNvPr id="39" name="Text 36"/>
          <p:cNvSpPr/>
          <p:nvPr/>
        </p:nvSpPr>
        <p:spPr>
          <a:xfrm>
            <a:off x="6793992" y="413308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E2D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40" name="Text 37"/>
          <p:cNvSpPr/>
          <p:nvPr/>
        </p:nvSpPr>
        <p:spPr>
          <a:xfrm>
            <a:off x="4572000" y="497433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선물 주문창 읽기</a:t>
            </a:r>
            <a:endParaRPr lang="en-US" sz="1450" dirty="0"/>
          </a:p>
        </p:txBody>
      </p:sp>
      <p:sp>
        <p:nvSpPr>
          <p:cNvPr id="41" name="Text 38"/>
          <p:cNvSpPr/>
          <p:nvPr/>
        </p:nvSpPr>
        <p:spPr>
          <a:xfrm>
            <a:off x="4572000" y="528523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마진 모드 · 레버리지 · 주문 유형 · 포지션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4379976" y="3895344"/>
            <a:ext cx="3401568" cy="9144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0"/>
          <p:cNvSpPr/>
          <p:nvPr/>
        </p:nvSpPr>
        <p:spPr>
          <a:xfrm>
            <a:off x="8129016" y="3895344"/>
            <a:ext cx="3529584" cy="1773936"/>
          </a:xfrm>
          <a:prstGeom prst="roundRect">
            <a:avLst>
              <a:gd name="adj" fmla="val 3608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1"/>
          <p:cNvSpPr/>
          <p:nvPr/>
        </p:nvSpPr>
        <p:spPr>
          <a:xfrm>
            <a:off x="8385048" y="4169664"/>
            <a:ext cx="658368" cy="658368"/>
          </a:xfrm>
          <a:prstGeom prst="ellipse">
            <a:avLst/>
          </a:prstGeom>
          <a:solidFill>
            <a:srgbClr val="EFEADB"/>
          </a:solidFill>
          <a:ln w="12700">
            <a:solidFill>
              <a:srgbClr val="EFEA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2"/>
          <p:cNvSpPr/>
          <p:nvPr/>
        </p:nvSpPr>
        <p:spPr>
          <a:xfrm>
            <a:off x="8385048" y="41696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700" dirty="0"/>
          </a:p>
        </p:txBody>
      </p:sp>
      <p:sp>
        <p:nvSpPr>
          <p:cNvPr id="46" name="Text 43"/>
          <p:cNvSpPr/>
          <p:nvPr/>
        </p:nvSpPr>
        <p:spPr>
          <a:xfrm>
            <a:off x="10607040" y="413308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E2D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400" dirty="0"/>
          </a:p>
        </p:txBody>
      </p:sp>
      <p:sp>
        <p:nvSpPr>
          <p:cNvPr id="47" name="Text 44"/>
          <p:cNvSpPr/>
          <p:nvPr/>
        </p:nvSpPr>
        <p:spPr>
          <a:xfrm>
            <a:off x="8385048" y="497433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자산 확인 루틴</a:t>
            </a:r>
            <a:endParaRPr lang="en-US" sz="1450" dirty="0"/>
          </a:p>
        </p:txBody>
      </p:sp>
      <p:sp>
        <p:nvSpPr>
          <p:cNvPr id="48" name="Text 45"/>
          <p:cNvSpPr/>
          <p:nvPr/>
        </p:nvSpPr>
        <p:spPr>
          <a:xfrm>
            <a:off x="8385048" y="528523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balance와 Fund flow로 수익 점검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8193024" y="3895344"/>
            <a:ext cx="3401568" cy="9144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 ·   왜 비트겟인가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수수료 — 봇 매매에서 가장 먼저 보는 숫자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자동매매는 거래 횟수가 많아 수수료가 곧 성과입니다. 환급까지 감안하면 차이가 더 커집니다.</a:t>
            </a:r>
            <a:endParaRPr lang="en-US" sz="1400" dirty="0"/>
          </a:p>
        </p:txBody>
      </p:sp>
      <p:pic>
        <p:nvPicPr>
          <p:cNvPr id="5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28232"/>
            <a:ext cx="256032" cy="2103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매매동반자  ·  비트겟 자동매매 과정 1주차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1874520"/>
            <a:ext cx="11183112" cy="868680"/>
          </a:xfrm>
          <a:prstGeom prst="roundRect">
            <a:avLst>
              <a:gd name="adj" fmla="val 7368"/>
            </a:avLst>
          </a:prstGeom>
          <a:solidFill>
            <a:srgbClr val="2E3A26"/>
          </a:solidFill>
          <a:ln w="12700">
            <a:solidFill>
              <a:srgbClr val="E2DB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868680" y="18745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매수·매도 요율이 동일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하고, 여기에 </a:t>
            </a:r>
            <a:r>
              <a:rPr lang="en-US" sz="1600" b="1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수수료 환급 50%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 적용되면 실질 부담은 절반으로 줄어듭니다.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2920" y="3017520"/>
            <a:ext cx="2688336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722376" y="3218688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722376" y="384048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시장가 (Taker)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22376" y="4133088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바로 체결되는 주문 · 매수/매도 동일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328416" y="3017520"/>
            <a:ext cx="2688336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3547872" y="3218688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0.02%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3547872" y="384048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지정가 (Maker)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547872" y="4133088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호가에 걸어두는 주문 · 매수/매도 동일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153912" y="3017520"/>
            <a:ext cx="2688336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6373368" y="3218688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6373368" y="384048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수수료 환급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373368" y="4133088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 충족 시 납부 수수료의 절반 환급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979408" y="3017520"/>
            <a:ext cx="2688336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9198864" y="3218688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0.02% / 0.01%</a:t>
            </a:r>
            <a:endParaRPr lang="en-US" sz="2100" dirty="0"/>
          </a:p>
        </p:txBody>
      </p:sp>
      <p:sp>
        <p:nvSpPr>
          <p:cNvPr id="24" name="Text 21"/>
          <p:cNvSpPr/>
          <p:nvPr/>
        </p:nvSpPr>
        <p:spPr>
          <a:xfrm>
            <a:off x="9198864" y="384048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환급 후 실질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198864" y="4133088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시장가 0.02% · 지정가 0.01% 수준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02920" y="5138928"/>
            <a:ext cx="1118311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822960" y="513892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r>
              <a:rPr lang="en-US" sz="125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비트겟 화면에 익숙해지면 바이낸스도 구조가 거의 같습니다.</a:t>
            </a:r>
            <a:r>
              <a:rPr lang="en-US" sz="12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거래소를 하나 제대로 익혀두면 나중에 옮겨도 다시 배울 것이 거의 없습니다.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 ·   왜 비트겟인가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글로벌 3위 거래소 — 규모로 보는 신뢰도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거래량은 곧 유동성입니다. 봇이 원하는 가격에 체결되려면 거래가 충분히 일어나는 곳이어야 합니다.</a:t>
            </a:r>
            <a:endParaRPr lang="en-US" sz="1400" dirty="0"/>
          </a:p>
        </p:txBody>
      </p:sp>
      <p:pic>
        <p:nvPicPr>
          <p:cNvPr id="5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28232"/>
            <a:ext cx="256032" cy="2103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매매동반자  ·  비트겟 자동매매 과정 1주차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1874520"/>
            <a:ext cx="6903720" cy="4206240"/>
          </a:xfrm>
          <a:prstGeom prst="roundRect">
            <a:avLst>
              <a:gd name="adj" fmla="val 1522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assets/s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057400"/>
            <a:ext cx="6537960" cy="38404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726680" y="1874520"/>
            <a:ext cx="3959352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7973568" y="203911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141조 원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7973568" y="25328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현물 월간 거래대금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7973568" y="27889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2025년 5월 기준 · 약 1,070억 달러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726680" y="3310128"/>
            <a:ext cx="3959352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7973568" y="3474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510조 원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7973568" y="39684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1분기 누적 현물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7973568" y="42245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분기 대비 +159% 증가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7726680" y="4745736"/>
            <a:ext cx="3959352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/>
          <p:nvPr/>
        </p:nvSpPr>
        <p:spPr>
          <a:xfrm>
            <a:off x="7973568" y="49103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2,244조 원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7973568" y="54041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1분기 누적 선물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7973568" y="566013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선물 거래가 특히 강한 거래소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 ·   왜 비트겟인가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준비금 비율 192% — 고객 자산보다 많이 보유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준비금 비율 = 거래소 보유 자산 ÷ 고객 자산 × 100%. 100%를 넘으면 맡긴 자산을 전부 즉시 인출할 수 있다는 뜻입니다.</a:t>
            </a:r>
            <a:endParaRPr lang="en-US" sz="1400" dirty="0"/>
          </a:p>
        </p:txBody>
      </p:sp>
      <p:pic>
        <p:nvPicPr>
          <p:cNvPr id="5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28232"/>
            <a:ext cx="256032" cy="2103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매매동반자  ·  비트겟 자동매매 과정 1주차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1874520"/>
            <a:ext cx="7223760" cy="278892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assets/s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011680"/>
            <a:ext cx="6912864" cy="2514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2920" y="477316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bitget.com/asia/proof-of-reserves — 누구나 직접 열어볼 수 있는 공개 페이지입니다.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8046720" y="1874520"/>
            <a:ext cx="3639312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/>
          <p:cNvSpPr/>
          <p:nvPr/>
        </p:nvSpPr>
        <p:spPr>
          <a:xfrm>
            <a:off x="8275320" y="2020824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192%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8275320" y="2514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자산 대비 준비금 비율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8275320" y="277063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고객이 맡긴 자산의 약 2배를 보유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046720" y="3291840"/>
            <a:ext cx="3639312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/>
          <p:nvPr/>
        </p:nvSpPr>
        <p:spPr>
          <a:xfrm>
            <a:off x="8275320" y="3438144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199%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8275320" y="39319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준비금 비율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8275320" y="418795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페이지 스냅샷 기준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8046720" y="4709160"/>
            <a:ext cx="3639312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/>
          <p:nvPr/>
        </p:nvSpPr>
        <p:spPr>
          <a:xfrm>
            <a:off x="8275320" y="4855464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7.25억 달러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8275320" y="5349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보호 준비금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8275320" y="560527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9,570억 원 규모의 별도 기금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502920" y="5138928"/>
            <a:ext cx="7223760" cy="868680"/>
          </a:xfrm>
          <a:prstGeom prst="roundRect">
            <a:avLst>
              <a:gd name="adj" fmla="val 7368"/>
            </a:avLst>
          </a:prstGeom>
          <a:solidFill>
            <a:srgbClr val="2E3A26"/>
          </a:solidFill>
          <a:ln w="12700">
            <a:solidFill>
              <a:srgbClr val="E2DB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0"/>
          <p:cNvSpPr/>
          <p:nvPr/>
        </p:nvSpPr>
        <p:spPr>
          <a:xfrm>
            <a:off x="822960" y="5138928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· USDT · ETH 등 주요 자산은 실시간 증명(PoR)으로 공개.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FTX 사태 이후 거래소를 고를 때 가장 먼저 볼 항목입니다.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 ·   준비금 검증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— 말이 아니라 직접 확인하는 것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아래 네 단계면 거래소의 주장 대신 데이터를 직접 눈으로 확인할 수 있습니다.</a:t>
            </a:r>
            <a:endParaRPr lang="en-US" sz="1400" dirty="0"/>
          </a:p>
        </p:txBody>
      </p:sp>
      <p:pic>
        <p:nvPicPr>
          <p:cNvPr id="5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28232"/>
            <a:ext cx="256032" cy="2103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매매동반자  ·  비트겟 자동매매 과정 1주차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1874520"/>
            <a:ext cx="2688336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40664" y="2084832"/>
            <a:ext cx="566928" cy="566928"/>
          </a:xfrm>
          <a:prstGeom prst="ellipse">
            <a:avLst/>
          </a:prstGeom>
          <a:solidFill>
            <a:srgbClr val="EFEADB"/>
          </a:solidFill>
          <a:ln w="12700">
            <a:solidFill>
              <a:srgbClr val="EFEA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40664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40664" y="2798064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준비금 페이지 접속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40664" y="3090672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bitget.com/asia/proof-of-reserves 에서 최신 스냅샷 확인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328416" y="1874520"/>
            <a:ext cx="2688336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3566160" y="2084832"/>
            <a:ext cx="566928" cy="566928"/>
          </a:xfrm>
          <a:prstGeom prst="ellipse">
            <a:avLst/>
          </a:prstGeom>
          <a:solidFill>
            <a:srgbClr val="EFEADB"/>
          </a:solidFill>
          <a:ln w="12700">
            <a:solidFill>
              <a:srgbClr val="EFEA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3566160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566160" y="2798064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Merkle root hash 확인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3566160" y="3090672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layers · 40,355,288 records — 전체 자산을 요약한 최종 해시값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153912" y="1874520"/>
            <a:ext cx="2688336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6391656" y="2084832"/>
            <a:ext cx="566928" cy="566928"/>
          </a:xfrm>
          <a:prstGeom prst="ellipse">
            <a:avLst/>
          </a:prstGeom>
          <a:solidFill>
            <a:srgbClr val="EFEADB"/>
          </a:solidFill>
          <a:ln w="12700">
            <a:solidFill>
              <a:srgbClr val="EFEA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6391656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391656" y="2798064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코인별 준비금 비율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391656" y="3090672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429% · USDT 108% · ETH 148% · USDC 270%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979408" y="1874520"/>
            <a:ext cx="2688336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9217152" y="2084832"/>
            <a:ext cx="566928" cy="566928"/>
          </a:xfrm>
          <a:prstGeom prst="ellipse">
            <a:avLst/>
          </a:prstGeom>
          <a:solidFill>
            <a:srgbClr val="EFEADB"/>
          </a:solidFill>
          <a:ln w="12700">
            <a:solidFill>
              <a:srgbClr val="EFEA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9217152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9217152" y="2798064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UID로 검증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9217152" y="3090672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자산이 트리에 포함됐는지 본인이 직접 조회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02920" y="4041648"/>
            <a:ext cx="11183112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1" descr="assets/s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343400"/>
            <a:ext cx="10725912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 ·   준비금 검증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머클 트리 — 위변조가 불가능한 이유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자산 데이터를 해시로 묶어 위로 올라가는 구조. 하나만 바뀌어도 최종 해시가 완전히 달라집니다.</a:t>
            </a:r>
            <a:endParaRPr lang="en-US" sz="1400" dirty="0"/>
          </a:p>
        </p:txBody>
      </p:sp>
      <p:pic>
        <p:nvPicPr>
          <p:cNvPr id="5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28232"/>
            <a:ext cx="256032" cy="2103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매매동반자  ·  비트겟 자동매매 과정 1주차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1874520"/>
            <a:ext cx="5532120" cy="3063240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2103120" y="2103120"/>
            <a:ext cx="2331720" cy="566928"/>
          </a:xfrm>
          <a:prstGeom prst="roundRect">
            <a:avLst>
              <a:gd name="adj" fmla="val 11290"/>
            </a:avLst>
          </a:prstGeom>
          <a:solidFill>
            <a:srgbClr val="2E3A26"/>
          </a:solidFill>
          <a:ln w="12700">
            <a:solidFill>
              <a:srgbClr val="E2DB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2103120" y="215798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Merkle Root Hash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103120" y="239572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8f86a2d0bbeb79a9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68980" y="2670048"/>
            <a:ext cx="0" cy="146304"/>
          </a:xfrm>
          <a:prstGeom prst="line">
            <a:avLst/>
          </a:prstGeom>
          <a:noFill/>
          <a:ln w="19050">
            <a:solidFill>
              <a:srgbClr val="E2DB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1691640" y="2816352"/>
            <a:ext cx="3154680" cy="0"/>
          </a:xfrm>
          <a:prstGeom prst="line">
            <a:avLst/>
          </a:prstGeom>
          <a:noFill/>
          <a:ln w="19050">
            <a:solidFill>
              <a:srgbClr val="E2DB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1691640" y="2816352"/>
            <a:ext cx="0" cy="164592"/>
          </a:xfrm>
          <a:prstGeom prst="line">
            <a:avLst/>
          </a:prstGeom>
          <a:noFill/>
          <a:ln w="19050">
            <a:solidFill>
              <a:srgbClr val="E2DB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4846320" y="2816352"/>
            <a:ext cx="0" cy="164592"/>
          </a:xfrm>
          <a:prstGeom prst="line">
            <a:avLst/>
          </a:prstGeom>
          <a:noFill/>
          <a:ln w="19050">
            <a:solidFill>
              <a:srgbClr val="E2DB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1097280" y="2980944"/>
            <a:ext cx="1188720" cy="438912"/>
          </a:xfrm>
          <a:prstGeom prst="roundRect">
            <a:avLst>
              <a:gd name="adj" fmla="val 12500"/>
            </a:avLst>
          </a:prstGeom>
          <a:solidFill>
            <a:srgbClr val="EFEADB"/>
          </a:solidFill>
          <a:ln w="12700">
            <a:solidFill>
              <a:srgbClr val="C9A8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1097280" y="298094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해시  A+B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251960" y="2980944"/>
            <a:ext cx="1188720" cy="438912"/>
          </a:xfrm>
          <a:prstGeom prst="roundRect">
            <a:avLst>
              <a:gd name="adj" fmla="val 12500"/>
            </a:avLst>
          </a:prstGeom>
          <a:solidFill>
            <a:srgbClr val="EFEADB"/>
          </a:solidFill>
          <a:ln w="12700">
            <a:solidFill>
              <a:srgbClr val="C9A8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4251960" y="298094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해시  C+D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691640" y="3419856"/>
            <a:ext cx="0" cy="128016"/>
          </a:xfrm>
          <a:prstGeom prst="line">
            <a:avLst/>
          </a:prstGeom>
          <a:noFill/>
          <a:ln w="19050">
            <a:solidFill>
              <a:srgbClr val="E2DB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1170432" y="3547872"/>
            <a:ext cx="1042416" cy="0"/>
          </a:xfrm>
          <a:prstGeom prst="line">
            <a:avLst/>
          </a:prstGeom>
          <a:noFill/>
          <a:ln w="19050">
            <a:solidFill>
              <a:srgbClr val="E2DB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1170432" y="3547872"/>
            <a:ext cx="0" cy="146304"/>
          </a:xfrm>
          <a:prstGeom prst="line">
            <a:avLst/>
          </a:prstGeom>
          <a:noFill/>
          <a:ln w="19050">
            <a:solidFill>
              <a:srgbClr val="E2DB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2212848" y="3547872"/>
            <a:ext cx="0" cy="146304"/>
          </a:xfrm>
          <a:prstGeom prst="line">
            <a:avLst/>
          </a:prstGeom>
          <a:noFill/>
          <a:ln w="19050">
            <a:solidFill>
              <a:srgbClr val="E2DB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4846320" y="3419856"/>
            <a:ext cx="0" cy="128016"/>
          </a:xfrm>
          <a:prstGeom prst="line">
            <a:avLst/>
          </a:prstGeom>
          <a:noFill/>
          <a:ln w="19050">
            <a:solidFill>
              <a:srgbClr val="E2DB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>
            <a:off x="4325112" y="3547872"/>
            <a:ext cx="1042416" cy="0"/>
          </a:xfrm>
          <a:prstGeom prst="line">
            <a:avLst/>
          </a:prstGeom>
          <a:noFill/>
          <a:ln w="19050">
            <a:solidFill>
              <a:srgbClr val="E2DB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4325112" y="3547872"/>
            <a:ext cx="0" cy="146304"/>
          </a:xfrm>
          <a:prstGeom prst="line">
            <a:avLst/>
          </a:prstGeom>
          <a:noFill/>
          <a:ln w="19050">
            <a:solidFill>
              <a:srgbClr val="E2DB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5367528" y="3547872"/>
            <a:ext cx="0" cy="146304"/>
          </a:xfrm>
          <a:prstGeom prst="line">
            <a:avLst/>
          </a:prstGeom>
          <a:noFill/>
          <a:ln w="19050">
            <a:solidFill>
              <a:srgbClr val="E2DB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5"/>
          <p:cNvSpPr/>
          <p:nvPr/>
        </p:nvSpPr>
        <p:spPr>
          <a:xfrm>
            <a:off x="777240" y="3694176"/>
            <a:ext cx="786384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777240" y="3694176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A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1819656" y="3694176"/>
            <a:ext cx="786384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1819656" y="3694176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B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931920" y="3694176"/>
            <a:ext cx="786384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3931920" y="3694176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C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974336" y="3694176"/>
            <a:ext cx="786384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4974336" y="3694176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D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731520" y="431596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사용자의 자산 데이터를 해시로 만들고, 두 개씩 묶어 올라가 하나의 최종 해시가 됩니다.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502920" y="5120640"/>
            <a:ext cx="5532120" cy="886968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777240" y="5120640"/>
            <a:ext cx="50292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layers</a:t>
            </a:r>
            <a:r>
              <a:rPr lang="en-US" sz="11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27번 해시 반복      </a:t>
            </a:r>
            <a:r>
              <a:rPr lang="en-US" sz="1100" b="1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40,355,288 records</a:t>
            </a:r>
            <a:r>
              <a:rPr lang="en-US" sz="11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전체 사용자 자산 기록 수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309360" y="1874520"/>
            <a:ext cx="5376672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7"/>
          <p:cNvSpPr/>
          <p:nvPr/>
        </p:nvSpPr>
        <p:spPr>
          <a:xfrm>
            <a:off x="6537960" y="2203704"/>
            <a:ext cx="621792" cy="621792"/>
          </a:xfrm>
          <a:prstGeom prst="ellipse">
            <a:avLst/>
          </a:prstGeom>
          <a:solidFill>
            <a:srgbClr val="EFEADB"/>
          </a:solidFill>
          <a:ln w="12700">
            <a:solidFill>
              <a:srgbClr val="EFEA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/>
          <p:nvPr/>
        </p:nvSpPr>
        <p:spPr>
          <a:xfrm>
            <a:off x="6537960" y="220370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7315200" y="21305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보안성</a:t>
            </a:r>
            <a:endParaRPr lang="en-US" sz="1350" dirty="0"/>
          </a:p>
        </p:txBody>
      </p:sp>
      <p:sp>
        <p:nvSpPr>
          <p:cNvPr id="43" name="Text 40"/>
          <p:cNvSpPr/>
          <p:nvPr/>
        </p:nvSpPr>
        <p:spPr>
          <a:xfrm>
            <a:off x="7315200" y="242316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데이터가 하나만 바뀌어도 최종 해시(Merkle Root)가 완전히 달라집니다 → 위변조 불가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6309360" y="3291840"/>
            <a:ext cx="5376672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2"/>
          <p:cNvSpPr/>
          <p:nvPr/>
        </p:nvSpPr>
        <p:spPr>
          <a:xfrm>
            <a:off x="6537960" y="3621024"/>
            <a:ext cx="621792" cy="621792"/>
          </a:xfrm>
          <a:prstGeom prst="ellipse">
            <a:avLst/>
          </a:prstGeom>
          <a:solidFill>
            <a:srgbClr val="EFEADB"/>
          </a:solidFill>
          <a:ln w="12700">
            <a:solidFill>
              <a:srgbClr val="EFEA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3"/>
          <p:cNvSpPr/>
          <p:nvPr/>
        </p:nvSpPr>
        <p:spPr>
          <a:xfrm>
            <a:off x="6537960" y="36210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7315200" y="35478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효율성</a:t>
            </a:r>
            <a:endParaRPr lang="en-US" sz="1350" dirty="0"/>
          </a:p>
        </p:txBody>
      </p:sp>
      <p:sp>
        <p:nvSpPr>
          <p:cNvPr id="48" name="Text 45"/>
          <p:cNvSpPr/>
          <p:nvPr/>
        </p:nvSpPr>
        <p:spPr>
          <a:xfrm>
            <a:off x="7315200" y="384048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수천만 건의 자산 기록을 단 하나의 값으로 요약해 검증할 수 있습니다.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6309360" y="4709160"/>
            <a:ext cx="5376672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7"/>
          <p:cNvSpPr/>
          <p:nvPr/>
        </p:nvSpPr>
        <p:spPr>
          <a:xfrm>
            <a:off x="6537960" y="5038344"/>
            <a:ext cx="621792" cy="621792"/>
          </a:xfrm>
          <a:prstGeom prst="ellipse">
            <a:avLst/>
          </a:prstGeom>
          <a:solidFill>
            <a:srgbClr val="EFEADB"/>
          </a:solidFill>
          <a:ln w="12700">
            <a:solidFill>
              <a:srgbClr val="EFEA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8"/>
          <p:cNvSpPr/>
          <p:nvPr/>
        </p:nvSpPr>
        <p:spPr>
          <a:xfrm>
            <a:off x="6537960" y="50383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7315200" y="49651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가능</a:t>
            </a:r>
            <a:endParaRPr lang="en-US" sz="1350" dirty="0"/>
          </a:p>
        </p:txBody>
      </p:sp>
      <p:sp>
        <p:nvSpPr>
          <p:cNvPr id="53" name="Text 50"/>
          <p:cNvSpPr/>
          <p:nvPr/>
        </p:nvSpPr>
        <p:spPr>
          <a:xfrm>
            <a:off x="7315200" y="525780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UID를 넣어 내 자산이 트리에 포함됐는지 직접 확인할 수 있습니다.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 ·   준비금 검증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자산이 포함됐는지 직접 확인하기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거래소가 검증 도구를 열어두었는지가 핵심입니다. 다만 PoR로도 확인되지 않는 부분은 분명히 알고 있어야 합니다.</a:t>
            </a:r>
            <a:endParaRPr lang="en-US" sz="1400" dirty="0"/>
          </a:p>
        </p:txBody>
      </p:sp>
      <p:pic>
        <p:nvPicPr>
          <p:cNvPr id="5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28232"/>
            <a:ext cx="256032" cy="2103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매매동반자  ·  비트겟 자동매매 과정 1주차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1874520"/>
            <a:ext cx="5532120" cy="301752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assets/s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029968"/>
            <a:ext cx="5166360" cy="25877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2920" y="5010912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개별 사용자의 자산이 트리에 포함됐는지 증명하는 데이터 (Encrypted UID · Nonce · Merkle hash · Leaf node · Asset amount)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309360" y="1874520"/>
            <a:ext cx="5376672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/>
          <p:cNvSpPr/>
          <p:nvPr/>
        </p:nvSpPr>
        <p:spPr>
          <a:xfrm>
            <a:off x="6583680" y="208483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E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 이래서 조작이 어렵다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675120" y="2487168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본인이 UID로 직접 검증할 수 있음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해시값은 1비트만 달라져도 완전히 바뀜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지갑 주소 공개 + 계산 로직 GitHub 공개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309360" y="4041648"/>
            <a:ext cx="5376672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6583680" y="424281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 그래도 주의할 점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6675120" y="4645152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PoR는 “보유”만 증명 — 부채는 반영되지 않음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실시간이 아닌 특정 시점의 스냅샷일 뿐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 회계법인의 검토는 여전히 필요함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 ·   비트겟 화면 구조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화면 — 어디에 무엇이 있는가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메뉴 위치만 익혀두면 나머지는 반복입니다. 크게 네 영역으로 나눠서 보세요.</a:t>
            </a:r>
            <a:endParaRPr lang="en-US" sz="1400" dirty="0"/>
          </a:p>
        </p:txBody>
      </p:sp>
      <p:pic>
        <p:nvPicPr>
          <p:cNvPr id="5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28232"/>
            <a:ext cx="256032" cy="2103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매매동반자  ·  비트겟 자동매매 과정 1주차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1874520"/>
            <a:ext cx="7360920" cy="4224528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assets/s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057400"/>
            <a:ext cx="6995160" cy="38587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138160" y="1874520"/>
            <a:ext cx="354787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8339328" y="2057400"/>
            <a:ext cx="402336" cy="402336"/>
          </a:xfrm>
          <a:prstGeom prst="ellipse">
            <a:avLst/>
          </a:prstGeom>
          <a:solidFill>
            <a:srgbClr val="EFEADB"/>
          </a:solidFill>
          <a:ln w="12700">
            <a:solidFill>
              <a:srgbClr val="EFEA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/>
          <p:cNvSpPr/>
          <p:nvPr/>
        </p:nvSpPr>
        <p:spPr>
          <a:xfrm>
            <a:off x="833932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851392" y="20391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상단 메뉴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8851392" y="231343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· Trade · Futures · Earn · Web3 · Square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138160" y="2962656"/>
            <a:ext cx="354787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8339328" y="3145536"/>
            <a:ext cx="402336" cy="402336"/>
          </a:xfrm>
          <a:prstGeom prst="ellipse">
            <a:avLst/>
          </a:prstGeom>
          <a:solidFill>
            <a:srgbClr val="EFEADB"/>
          </a:solidFill>
          <a:ln w="12700">
            <a:solidFill>
              <a:srgbClr val="EFEA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/>
          <p:nvPr/>
        </p:nvSpPr>
        <p:spPr>
          <a:xfrm>
            <a:off x="8339328" y="3145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851392" y="31272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우상단 아이콘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8851392" y="340156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 · 지갑 · 주문 · 알림 · 언어 · 프로필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8138160" y="4050792"/>
            <a:ext cx="354787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8339328" y="4233672"/>
            <a:ext cx="402336" cy="402336"/>
          </a:xfrm>
          <a:prstGeom prst="ellipse">
            <a:avLst/>
          </a:prstGeom>
          <a:solidFill>
            <a:srgbClr val="EFEADB"/>
          </a:solidFill>
          <a:ln w="12700">
            <a:solidFill>
              <a:srgbClr val="EFEA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/>
          <p:nvPr/>
        </p:nvSpPr>
        <p:spPr>
          <a:xfrm>
            <a:off x="8339328" y="4233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8851392" y="42153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티커 바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8851392" y="448970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코인의 실시간 시세와 등락률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8138160" y="5138928"/>
            <a:ext cx="354787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2"/>
          <p:cNvSpPr/>
          <p:nvPr/>
        </p:nvSpPr>
        <p:spPr>
          <a:xfrm>
            <a:off x="8339328" y="5321808"/>
            <a:ext cx="402336" cy="402336"/>
          </a:xfrm>
          <a:prstGeom prst="ellipse">
            <a:avLst/>
          </a:prstGeom>
          <a:solidFill>
            <a:srgbClr val="EFEADB"/>
          </a:solidFill>
          <a:ln w="12700">
            <a:solidFill>
              <a:srgbClr val="EFEA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3"/>
          <p:cNvSpPr/>
          <p:nvPr/>
        </p:nvSpPr>
        <p:spPr>
          <a:xfrm>
            <a:off x="8339328" y="5321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8851392" y="53035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본문 목록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8851392" y="55778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· Last price · Change · Amount · Action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 ·   비트겟 화면 구조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우상단 아이콘 — 손이 가장 자주 가는 곳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왼쪽부터 순서대로 여섯 가지. 이 위치만 외워두면 대부분의 조작은 여기서 끝납니다.</a:t>
            </a:r>
            <a:endParaRPr lang="en-US" sz="1400" dirty="0"/>
          </a:p>
        </p:txBody>
      </p:sp>
      <p:pic>
        <p:nvPicPr>
          <p:cNvPr id="5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28232"/>
            <a:ext cx="256032" cy="2103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매매동반자  ·  비트겟 자동매매 과정 1주차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926080" y="1847088"/>
            <a:ext cx="630936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assets/s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2011680"/>
            <a:ext cx="5852160" cy="85953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02920" y="3246120"/>
            <a:ext cx="3529584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740664" y="3584448"/>
            <a:ext cx="621792" cy="621792"/>
          </a:xfrm>
          <a:prstGeom prst="ellipse">
            <a:avLst/>
          </a:prstGeom>
          <a:solidFill>
            <a:srgbClr val="EFEADB"/>
          </a:solidFill>
          <a:ln w="12700">
            <a:solidFill>
              <a:srgbClr val="EFEA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/>
          <p:cNvSpPr/>
          <p:nvPr/>
        </p:nvSpPr>
        <p:spPr>
          <a:xfrm>
            <a:off x="740664" y="35844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490472" y="3502152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 (Search)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490472" y="379476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코인 · 거래쌍 · 기능 · 도움말을 한 번에 검색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315968" y="3246120"/>
            <a:ext cx="3529584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4553712" y="3584448"/>
            <a:ext cx="621792" cy="621792"/>
          </a:xfrm>
          <a:prstGeom prst="ellipse">
            <a:avLst/>
          </a:prstGeom>
          <a:solidFill>
            <a:srgbClr val="EFEADB"/>
          </a:solidFill>
          <a:ln w="12700">
            <a:solidFill>
              <a:srgbClr val="EFEA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/>
          <p:nvPr/>
        </p:nvSpPr>
        <p:spPr>
          <a:xfrm>
            <a:off x="4553712" y="35844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👛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5303520" y="3502152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지갑 (Wallet)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5303520" y="379476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자산 현황, 입출금, 전송, 지갑 간 이동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129016" y="3246120"/>
            <a:ext cx="3529584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8366760" y="3584448"/>
            <a:ext cx="621792" cy="621792"/>
          </a:xfrm>
          <a:prstGeom prst="ellipse">
            <a:avLst/>
          </a:prstGeom>
          <a:solidFill>
            <a:srgbClr val="EFEADB"/>
          </a:solidFill>
          <a:ln w="12700">
            <a:solidFill>
              <a:srgbClr val="EFEA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/>
          <p:nvPr/>
        </p:nvSpPr>
        <p:spPr>
          <a:xfrm>
            <a:off x="8366760" y="35844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🕘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9116568" y="3502152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(Orders)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9116568" y="379476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현물 · 선물 · Earn 주문 내역 확인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502920" y="4672584"/>
            <a:ext cx="3529584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2"/>
          <p:cNvSpPr/>
          <p:nvPr/>
        </p:nvSpPr>
        <p:spPr>
          <a:xfrm>
            <a:off x="740664" y="5010912"/>
            <a:ext cx="621792" cy="621792"/>
          </a:xfrm>
          <a:prstGeom prst="ellipse">
            <a:avLst/>
          </a:prstGeom>
          <a:solidFill>
            <a:srgbClr val="EFEADB"/>
          </a:solidFill>
          <a:ln w="12700">
            <a:solidFill>
              <a:srgbClr val="EFEA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3"/>
          <p:cNvSpPr/>
          <p:nvPr/>
        </p:nvSpPr>
        <p:spPr>
          <a:xfrm>
            <a:off x="740664" y="50109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1490472" y="4928616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알림</a:t>
            </a:r>
            <a:endParaRPr lang="en-US" sz="1350" dirty="0"/>
          </a:p>
        </p:txBody>
      </p:sp>
      <p:sp>
        <p:nvSpPr>
          <p:cNvPr id="29" name="Text 25"/>
          <p:cNvSpPr/>
          <p:nvPr/>
        </p:nvSpPr>
        <p:spPr>
          <a:xfrm>
            <a:off x="1490472" y="522122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체결, 입출금, 공지사항 알림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4315968" y="4672584"/>
            <a:ext cx="3529584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7"/>
          <p:cNvSpPr/>
          <p:nvPr/>
        </p:nvSpPr>
        <p:spPr>
          <a:xfrm>
            <a:off x="4553712" y="5010912"/>
            <a:ext cx="621792" cy="621792"/>
          </a:xfrm>
          <a:prstGeom prst="ellipse">
            <a:avLst/>
          </a:prstGeom>
          <a:solidFill>
            <a:srgbClr val="EFEADB"/>
          </a:solidFill>
          <a:ln w="12700">
            <a:solidFill>
              <a:srgbClr val="EFEA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8"/>
          <p:cNvSpPr/>
          <p:nvPr/>
        </p:nvSpPr>
        <p:spPr>
          <a:xfrm>
            <a:off x="4553712" y="50109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5303520" y="4928616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언어 · 지역</a:t>
            </a:r>
            <a:endParaRPr lang="en-US" sz="1350" dirty="0"/>
          </a:p>
        </p:txBody>
      </p:sp>
      <p:sp>
        <p:nvSpPr>
          <p:cNvPr id="34" name="Text 30"/>
          <p:cNvSpPr/>
          <p:nvPr/>
        </p:nvSpPr>
        <p:spPr>
          <a:xfrm>
            <a:off x="5303520" y="522122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 등 표시 언어와 지역 설정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8129016" y="4672584"/>
            <a:ext cx="3529584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2"/>
          <p:cNvSpPr/>
          <p:nvPr/>
        </p:nvSpPr>
        <p:spPr>
          <a:xfrm>
            <a:off x="8366760" y="5010912"/>
            <a:ext cx="621792" cy="621792"/>
          </a:xfrm>
          <a:prstGeom prst="ellipse">
            <a:avLst/>
          </a:prstGeom>
          <a:solidFill>
            <a:srgbClr val="EFEADB"/>
          </a:solidFill>
          <a:ln w="12700">
            <a:solidFill>
              <a:srgbClr val="EFEA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3"/>
          <p:cNvSpPr/>
          <p:nvPr/>
        </p:nvSpPr>
        <p:spPr>
          <a:xfrm>
            <a:off x="8366760" y="50109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600" dirty="0"/>
          </a:p>
        </p:txBody>
      </p:sp>
      <p:sp>
        <p:nvSpPr>
          <p:cNvPr id="38" name="Text 34"/>
          <p:cNvSpPr/>
          <p:nvPr/>
        </p:nvSpPr>
        <p:spPr>
          <a:xfrm>
            <a:off x="9116568" y="4928616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프로필</a:t>
            </a:r>
            <a:endParaRPr lang="en-US" sz="1350" dirty="0"/>
          </a:p>
        </p:txBody>
      </p:sp>
      <p:sp>
        <p:nvSpPr>
          <p:cNvPr id="39" name="Text 35"/>
          <p:cNvSpPr/>
          <p:nvPr/>
        </p:nvSpPr>
        <p:spPr>
          <a:xfrm>
            <a:off x="9116568" y="522122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계정 정보 · 보안 · API 키 · 서브 계정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 ·   지갑과 자산 이동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지갑 — 입금 · 출금 · Transfer 세 개 버튼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지갑 아이콘을 누르면 상단에 보유 자산 요약이, 그 아래에 세 개의 핵심 버튼이 있습니다.</a:t>
            </a:r>
            <a:endParaRPr lang="en-US" sz="1400" dirty="0"/>
          </a:p>
        </p:txBody>
      </p:sp>
      <p:pic>
        <p:nvPicPr>
          <p:cNvPr id="5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28232"/>
            <a:ext cx="256032" cy="2103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매매동반자  ·  비트겟 자동매매 과정 1주차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1874520"/>
            <a:ext cx="3977640" cy="4160520"/>
          </a:xfrm>
          <a:prstGeom prst="roundRect">
            <a:avLst>
              <a:gd name="adj" fmla="val 1609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assets/s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057400"/>
            <a:ext cx="3611880" cy="23682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4572000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asset value = 현재 계정의 총 자산 가치. 표시 단위(BTC/USD)는 클릭해서 바꿀 수 있습니다.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800600" y="1874520"/>
            <a:ext cx="6885432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5029200" y="2048256"/>
            <a:ext cx="585216" cy="585216"/>
          </a:xfrm>
          <a:prstGeom prst="ellipse">
            <a:avLst/>
          </a:prstGeom>
          <a:solidFill>
            <a:srgbClr val="EFEADB"/>
          </a:solidFill>
          <a:ln w="12700">
            <a:solidFill>
              <a:srgbClr val="EFEA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5029200" y="204825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779008" y="202082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 ·  입금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5779008" y="2313432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지갑이나 다른 거래소에서 비트겟 계정으로 코인을 보냅니다.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800600" y="2926080"/>
            <a:ext cx="6885432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5029200" y="3099816"/>
            <a:ext cx="585216" cy="585216"/>
          </a:xfrm>
          <a:prstGeom prst="ellipse">
            <a:avLst/>
          </a:prstGeom>
          <a:solidFill>
            <a:srgbClr val="EFEADB"/>
          </a:solidFill>
          <a:ln w="12700">
            <a:solidFill>
              <a:srgbClr val="EFEA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/>
          <p:nvPr/>
        </p:nvSpPr>
        <p:spPr>
          <a:xfrm>
            <a:off x="5029200" y="309981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5779008" y="307238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  ·  출금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5779008" y="3364992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비트겟에서 다른 지갑(메타마스크, 타 거래소 등)으로 코인을 보냅니다.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800600" y="3977640"/>
            <a:ext cx="6885432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5029200" y="4151376"/>
            <a:ext cx="585216" cy="585216"/>
          </a:xfrm>
          <a:prstGeom prst="ellipse">
            <a:avLst/>
          </a:prstGeom>
          <a:solidFill>
            <a:srgbClr val="EFEADB"/>
          </a:solidFill>
          <a:ln w="12700">
            <a:solidFill>
              <a:srgbClr val="EFEA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9"/>
          <p:cNvSpPr/>
          <p:nvPr/>
        </p:nvSpPr>
        <p:spPr>
          <a:xfrm>
            <a:off x="5029200" y="415137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5779008" y="412394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 ·  지갑 간 이동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5779008" y="4416552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현물 → 선물, 선물 → Earn 처럼 내 계정 안에서 자산을 옮깁니다.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4800600" y="5074920"/>
            <a:ext cx="6885432" cy="960120"/>
          </a:xfrm>
          <a:prstGeom prst="roundRect">
            <a:avLst>
              <a:gd name="adj" fmla="val 6667"/>
            </a:avLst>
          </a:prstGeom>
          <a:solidFill>
            <a:srgbClr val="2E3A26"/>
          </a:solidFill>
          <a:ln w="12700">
            <a:solidFill>
              <a:srgbClr val="E2DB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3"/>
          <p:cNvSpPr/>
          <p:nvPr/>
        </p:nvSpPr>
        <p:spPr>
          <a:xfrm>
            <a:off x="5120640" y="50749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자동매매의 첫 단계는 Transfer 입니다.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입금한 USDT를 현물 지갑에서 선물(Futures) 지갑으로 옮겨두어야 봇이 주문을 낼 수 있습니다.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 ·   지갑과 자산 이동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지갑 종류 — 봇이 쓰는 지갑은 Futures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지갑이 여러 개로 나뉘어 있습니다. 각각 용도가 달라, 자산이 어디에 있는지부터 확인하는 습관이 필요합니다.</a:t>
            </a:r>
            <a:endParaRPr lang="en-US" sz="1400" dirty="0"/>
          </a:p>
        </p:txBody>
      </p:sp>
      <p:pic>
        <p:nvPicPr>
          <p:cNvPr id="5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28232"/>
            <a:ext cx="256032" cy="2103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매매동반자  ·  비트겟 자동매매 과정 1주차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1874520"/>
            <a:ext cx="2103120" cy="39319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assets/s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029968"/>
            <a:ext cx="1792224" cy="32918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2920" y="54132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지갑 메뉴 목록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2880360" y="1874520"/>
            <a:ext cx="8805672" cy="3931920"/>
          </a:xfrm>
          <a:prstGeom prst="roundRect">
            <a:avLst>
              <a:gd name="adj" fmla="val 1628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/>
          <p:cNvSpPr/>
          <p:nvPr/>
        </p:nvSpPr>
        <p:spPr>
          <a:xfrm>
            <a:off x="3291840" y="20848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892040" y="20848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자산 내역 보기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269480" y="20848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보유 코인 · 잔액 · 평가금액을 한 화면에서 확인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154680" y="2651760"/>
            <a:ext cx="8275320" cy="0"/>
          </a:xfrm>
          <a:prstGeom prst="line">
            <a:avLst/>
          </a:prstGeom>
          <a:noFill/>
          <a:ln w="12700">
            <a:solidFill>
              <a:srgbClr val="E2DB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/>
          <p:nvPr/>
        </p:nvSpPr>
        <p:spPr>
          <a:xfrm>
            <a:off x="3291840" y="280720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892040" y="28072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현물 거래용 지갑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7269480" y="28072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일반적인 코인 매매(즉시 거래)에 사용하는 자산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3154680" y="3374136"/>
            <a:ext cx="8275320" cy="0"/>
          </a:xfrm>
          <a:prstGeom prst="line">
            <a:avLst/>
          </a:prstGeom>
          <a:noFill/>
          <a:ln w="12700">
            <a:solidFill>
              <a:srgbClr val="E2DB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/>
          <p:nvPr/>
        </p:nvSpPr>
        <p:spPr>
          <a:xfrm>
            <a:off x="3291840" y="352958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4892040" y="352958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마진 거래용 지갑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7269480" y="352958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레버리지를 이용한 차입 거래에 사용하는 자산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3154680" y="4096512"/>
            <a:ext cx="8275320" cy="0"/>
          </a:xfrm>
          <a:prstGeom prst="line">
            <a:avLst/>
          </a:prstGeom>
          <a:noFill/>
          <a:ln w="12700">
            <a:solidFill>
              <a:srgbClr val="E2DB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3090672" y="4197096"/>
            <a:ext cx="8385048" cy="658368"/>
          </a:xfrm>
          <a:prstGeom prst="roundRect">
            <a:avLst>
              <a:gd name="adj" fmla="val 6944"/>
            </a:avLst>
          </a:prstGeom>
          <a:solidFill>
            <a:srgbClr val="EFEADB"/>
          </a:solidFill>
          <a:ln w="12700">
            <a:solidFill>
              <a:srgbClr val="C9A8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/>
          <p:nvPr/>
        </p:nvSpPr>
        <p:spPr>
          <a:xfrm>
            <a:off x="3291840" y="42519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Futures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4892040" y="42519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선물 거래용 지갑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7269480" y="4251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USDT 무기한 선물 · 코인 선물 거래에 사용 (봇이 사용)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3291840" y="497433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4892040" y="497433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예치 · 이자 상품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7269480" y="497433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자산을 예치해 이자를 받는 ‘예금형’ 코인 운용 서비스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3154680" y="5394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입금한 USDT가 현물 지갑에 있으면 봇은 주문을 내지 못합니다. 반드시 Futures 지갑 잔고를 확인하세요.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 ·   주문과 기록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내역 — 봇이 낸 주문을 확인하는 곳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시계 모양 아이콘 안에 모든 기록이 모여 있습니다. 봇 점검은 대부분 여기에서 시작합니다.</a:t>
            </a:r>
            <a:endParaRPr lang="en-US" sz="1400" dirty="0"/>
          </a:p>
        </p:txBody>
      </p:sp>
      <p:pic>
        <p:nvPicPr>
          <p:cNvPr id="5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28232"/>
            <a:ext cx="256032" cy="2103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매매동반자  ·  비트겟 자동매매 과정 1주차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1874520"/>
            <a:ext cx="2331720" cy="39319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assets/s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029968"/>
            <a:ext cx="2020824" cy="364845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108960" y="1874520"/>
            <a:ext cx="4197096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3364992" y="2148840"/>
            <a:ext cx="640080" cy="640080"/>
          </a:xfrm>
          <a:prstGeom prst="ellipse">
            <a:avLst/>
          </a:prstGeom>
          <a:solidFill>
            <a:srgbClr val="EFEADB"/>
          </a:solidFill>
          <a:ln w="12700">
            <a:solidFill>
              <a:srgbClr val="EFEA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/>
          <p:cNvSpPr/>
          <p:nvPr/>
        </p:nvSpPr>
        <p:spPr>
          <a:xfrm>
            <a:off x="3364992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364992" y="2926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orders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364992" y="32278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현물 주문 내역 — 일반 매수/매도 기록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488936" y="1874520"/>
            <a:ext cx="4197096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7744968" y="2148840"/>
            <a:ext cx="640080" cy="640080"/>
          </a:xfrm>
          <a:prstGeom prst="ellipse">
            <a:avLst/>
          </a:prstGeom>
          <a:solidFill>
            <a:srgbClr val="EFEADB"/>
          </a:solidFill>
          <a:ln w="12700">
            <a:solidFill>
              <a:srgbClr val="EFEA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/>
          <p:nvPr/>
        </p:nvSpPr>
        <p:spPr>
          <a:xfrm>
            <a:off x="7744968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7744968" y="2926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Futures orders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7744968" y="32278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선물 주문 내역 — 봇 점검의 기본 화면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3108960" y="3931920"/>
            <a:ext cx="4197096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3364992" y="4206240"/>
            <a:ext cx="640080" cy="640080"/>
          </a:xfrm>
          <a:prstGeom prst="ellipse">
            <a:avLst/>
          </a:prstGeom>
          <a:solidFill>
            <a:srgbClr val="EFEADB"/>
          </a:solidFill>
          <a:ln w="12700">
            <a:solidFill>
              <a:srgbClr val="EFEA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/>
          <p:nvPr/>
        </p:nvSpPr>
        <p:spPr>
          <a:xfrm>
            <a:off x="3364992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3364992" y="49834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history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3364992" y="52852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코인 간 단순 환전 내역 (예: BTC → ETH)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7488936" y="3931920"/>
            <a:ext cx="4197096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2"/>
          <p:cNvSpPr/>
          <p:nvPr/>
        </p:nvSpPr>
        <p:spPr>
          <a:xfrm>
            <a:off x="7744968" y="4206240"/>
            <a:ext cx="640080" cy="640080"/>
          </a:xfrm>
          <a:prstGeom prst="ellipse">
            <a:avLst/>
          </a:prstGeom>
          <a:solidFill>
            <a:srgbClr val="EFEADB"/>
          </a:solidFill>
          <a:ln w="12700">
            <a:solidFill>
              <a:srgbClr val="EFEA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3"/>
          <p:cNvSpPr/>
          <p:nvPr/>
        </p:nvSpPr>
        <p:spPr>
          <a:xfrm>
            <a:off x="7744968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7744968" y="49834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history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7744968" y="52852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예치 상품 참여 및 이자 수령 내역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 ·   선물 화면과 주문창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선물 진입 — USDT-M · USDC-M · Coin-M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상단 Futures 메뉴를 누르면 세 가지 정산 방식이 나옵니다. 어떤 자산으로 증거금을 잡느냐의 차이입니다.</a:t>
            </a:r>
            <a:endParaRPr lang="en-US" sz="1400" dirty="0"/>
          </a:p>
        </p:txBody>
      </p:sp>
      <p:pic>
        <p:nvPicPr>
          <p:cNvPr id="5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28232"/>
            <a:ext cx="256032" cy="2103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매매동반자  ·  비트겟 자동매매 과정 1주차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1874520"/>
            <a:ext cx="4983480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assets/s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057400"/>
            <a:ext cx="4617720" cy="38862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806440" y="1874520"/>
            <a:ext cx="5879592" cy="1069848"/>
          </a:xfrm>
          <a:prstGeom prst="roundRect">
            <a:avLst>
              <a:gd name="adj" fmla="val 5983"/>
            </a:avLst>
          </a:prstGeom>
          <a:solidFill>
            <a:srgbClr val="EFEADB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6053328" y="202082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USDT-M Futures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053328" y="231343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USDT로 정산되는 무기한 선물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6053328" y="256946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널리 쓰이는 방식 · 우리 봇이 사용합니다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806440" y="3063240"/>
            <a:ext cx="5879592" cy="1069848"/>
          </a:xfrm>
          <a:prstGeom prst="roundRect">
            <a:avLst>
              <a:gd name="adj" fmla="val 5983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6053328" y="320954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USDC-M Futures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053328" y="350215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기반 선물 계약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6053328" y="375818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스테이블코인 중 USDC로 거래할 때 사용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806440" y="4251960"/>
            <a:ext cx="5879592" cy="1069848"/>
          </a:xfrm>
          <a:prstGeom prst="roundRect">
            <a:avLst>
              <a:gd name="adj" fmla="val 5983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/>
          <p:nvPr/>
        </p:nvSpPr>
        <p:spPr>
          <a:xfrm>
            <a:off x="6053328" y="439826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Coin-M Futures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053328" y="469087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암호화폐로 정산되는 선물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6053328" y="494690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BTC로 계약을 맺고 BTC로 정산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5806440" y="5440680"/>
            <a:ext cx="5879592" cy="594360"/>
          </a:xfrm>
          <a:prstGeom prst="roundRect">
            <a:avLst>
              <a:gd name="adj" fmla="val 10769"/>
            </a:avLst>
          </a:prstGeom>
          <a:solidFill>
            <a:srgbClr val="2E3A26"/>
          </a:solidFill>
          <a:ln w="12700">
            <a:solidFill>
              <a:srgbClr val="E2DB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9"/>
          <p:cNvSpPr/>
          <p:nvPr/>
        </p:nvSpPr>
        <p:spPr>
          <a:xfrm>
            <a:off x="6080760" y="544068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“M” = Margin(증거금).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Demo trading으로 실자산 없이 연습할 수도 있습니다.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 ·   선물 화면과 주문창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선물 주문창 — 다섯 가지만 보면 됩니다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봇이 API로 채워 넣는 값도 결국 이 다섯 가지입니다. 손으로 한 번 눌러보면 봇 설정이 훨씬 쉬워집니다.</a:t>
            </a:r>
            <a:endParaRPr lang="en-US" sz="1400" dirty="0"/>
          </a:p>
        </p:txBody>
      </p:sp>
      <p:pic>
        <p:nvPicPr>
          <p:cNvPr id="5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28232"/>
            <a:ext cx="256032" cy="2103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매매동반자  ·  비트겟 자동매매 과정 1주차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1874520"/>
            <a:ext cx="3977640" cy="4160520"/>
          </a:xfrm>
          <a:prstGeom prst="roundRect">
            <a:avLst>
              <a:gd name="adj" fmla="val 1609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77240" y="2121408"/>
            <a:ext cx="1673352" cy="384048"/>
          </a:xfrm>
          <a:prstGeom prst="roundRect">
            <a:avLst>
              <a:gd name="adj" fmla="val 11905"/>
            </a:avLst>
          </a:prstGeom>
          <a:solidFill>
            <a:srgbClr val="2E3A26"/>
          </a:solidFill>
          <a:ln w="12700">
            <a:solidFill>
              <a:srgbClr val="2E3A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77240" y="2121408"/>
            <a:ext cx="167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(교차)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32888" y="2121408"/>
            <a:ext cx="1673352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2532888" y="2121408"/>
            <a:ext cx="167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(격리)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77240" y="2633472"/>
            <a:ext cx="3429000" cy="411480"/>
          </a:xfrm>
          <a:prstGeom prst="roundRect">
            <a:avLst>
              <a:gd name="adj" fmla="val 11111"/>
            </a:avLst>
          </a:prstGeom>
          <a:solidFill>
            <a:srgbClr val="EFEADB"/>
          </a:solidFill>
          <a:ln w="12700">
            <a:solidFill>
              <a:srgbClr val="C9A8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960120" y="263347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레버리지          10x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77240" y="3172968"/>
            <a:ext cx="1106424" cy="365760"/>
          </a:xfrm>
          <a:prstGeom prst="roundRect">
            <a:avLst>
              <a:gd name="adj" fmla="val 12500"/>
            </a:avLst>
          </a:prstGeom>
          <a:solidFill>
            <a:srgbClr val="2E3A26"/>
          </a:solidFill>
          <a:ln w="12700">
            <a:solidFill>
              <a:srgbClr val="2E3A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777240" y="3172968"/>
            <a:ext cx="110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1938528" y="3172968"/>
            <a:ext cx="1106424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1938528" y="3172968"/>
            <a:ext cx="110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099816" y="3172968"/>
            <a:ext cx="1106424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3099816" y="3172968"/>
            <a:ext cx="110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77240" y="3666744"/>
            <a:ext cx="342900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941832" y="366674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 (Price)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2514600" y="366674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USDT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77240" y="4215384"/>
            <a:ext cx="342900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941832" y="42153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수량 (Amount)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2514600" y="421538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 / USDT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77240" y="4764024"/>
            <a:ext cx="3429000" cy="384048"/>
          </a:xfrm>
          <a:prstGeom prst="roundRect">
            <a:avLst>
              <a:gd name="adj" fmla="val 11905"/>
            </a:avLst>
          </a:prstGeom>
          <a:solidFill>
            <a:srgbClr val="EFEADB"/>
          </a:solidFill>
          <a:ln w="12700">
            <a:solidFill>
              <a:srgbClr val="E2DB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941832" y="476402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SL   익절 · 손절 함께 등록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77240" y="5285232"/>
            <a:ext cx="1673352" cy="438912"/>
          </a:xfrm>
          <a:prstGeom prst="roundRect">
            <a:avLst>
              <a:gd name="adj" fmla="val 10417"/>
            </a:avLst>
          </a:prstGeom>
          <a:solidFill>
            <a:srgbClr val="2E3A26"/>
          </a:solidFill>
          <a:ln w="12700">
            <a:solidFill>
              <a:srgbClr val="2E3A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777240" y="5285232"/>
            <a:ext cx="1673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Long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2532888" y="5285232"/>
            <a:ext cx="1673352" cy="438912"/>
          </a:xfrm>
          <a:prstGeom prst="roundRect">
            <a:avLst>
              <a:gd name="adj" fmla="val 10417"/>
            </a:avLst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2532888" y="5285232"/>
            <a:ext cx="1673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Short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4800600" y="1874520"/>
            <a:ext cx="6885432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1"/>
          <p:cNvSpPr/>
          <p:nvPr/>
        </p:nvSpPr>
        <p:spPr>
          <a:xfrm>
            <a:off x="5120640" y="2185416"/>
            <a:ext cx="384048" cy="384048"/>
          </a:xfrm>
          <a:prstGeom prst="ellipse">
            <a:avLst/>
          </a:prstGeom>
          <a:solidFill>
            <a:srgbClr val="EFEADB"/>
          </a:solidFill>
          <a:ln w="12700">
            <a:solidFill>
              <a:srgbClr val="EFEA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5120640" y="2185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5687568" y="2139696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마진 모드</a:t>
            </a:r>
            <a:endParaRPr lang="en-US" sz="1350" dirty="0"/>
          </a:p>
        </p:txBody>
      </p:sp>
      <p:sp>
        <p:nvSpPr>
          <p:cNvPr id="37" name="Text 34"/>
          <p:cNvSpPr/>
          <p:nvPr/>
        </p:nvSpPr>
        <p:spPr>
          <a:xfrm>
            <a:off x="5687568" y="2414016"/>
            <a:ext cx="5696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교차(Cross)는 지갑 전체, 격리(Isolated)는 넣은 증거금만 걸립니다.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5074920" y="2834640"/>
            <a:ext cx="6400800" cy="0"/>
          </a:xfrm>
          <a:prstGeom prst="line">
            <a:avLst/>
          </a:prstGeom>
          <a:noFill/>
          <a:ln w="12700">
            <a:solidFill>
              <a:srgbClr val="E2DB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6"/>
          <p:cNvSpPr/>
          <p:nvPr/>
        </p:nvSpPr>
        <p:spPr>
          <a:xfrm>
            <a:off x="5120640" y="2962656"/>
            <a:ext cx="384048" cy="384048"/>
          </a:xfrm>
          <a:prstGeom prst="ellipse">
            <a:avLst/>
          </a:prstGeom>
          <a:solidFill>
            <a:srgbClr val="EFEADB"/>
          </a:solidFill>
          <a:ln w="12700">
            <a:solidFill>
              <a:srgbClr val="EFEA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7"/>
          <p:cNvSpPr/>
          <p:nvPr/>
        </p:nvSpPr>
        <p:spPr>
          <a:xfrm>
            <a:off x="5120640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5687568" y="2916936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레버리지</a:t>
            </a:r>
            <a:endParaRPr lang="en-US" sz="1350" dirty="0"/>
          </a:p>
        </p:txBody>
      </p:sp>
      <p:sp>
        <p:nvSpPr>
          <p:cNvPr id="42" name="Text 39"/>
          <p:cNvSpPr/>
          <p:nvPr/>
        </p:nvSpPr>
        <p:spPr>
          <a:xfrm>
            <a:off x="5687568" y="3191256"/>
            <a:ext cx="5696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증거금 대비 계약 규모의 배수. 낮게 시작하는 것이 원칙입니다.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5074920" y="3611880"/>
            <a:ext cx="6400800" cy="0"/>
          </a:xfrm>
          <a:prstGeom prst="line">
            <a:avLst/>
          </a:prstGeom>
          <a:noFill/>
          <a:ln w="12700">
            <a:solidFill>
              <a:srgbClr val="E2DB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1"/>
          <p:cNvSpPr/>
          <p:nvPr/>
        </p:nvSpPr>
        <p:spPr>
          <a:xfrm>
            <a:off x="5120640" y="3739896"/>
            <a:ext cx="384048" cy="384048"/>
          </a:xfrm>
          <a:prstGeom prst="ellipse">
            <a:avLst/>
          </a:prstGeom>
          <a:solidFill>
            <a:srgbClr val="EFEADB"/>
          </a:solidFill>
          <a:ln w="12700">
            <a:solidFill>
              <a:srgbClr val="EFEA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2"/>
          <p:cNvSpPr/>
          <p:nvPr/>
        </p:nvSpPr>
        <p:spPr>
          <a:xfrm>
            <a:off x="5120640" y="3739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5687568" y="3694176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유형</a:t>
            </a:r>
            <a:endParaRPr lang="en-US" sz="1350" dirty="0"/>
          </a:p>
        </p:txBody>
      </p:sp>
      <p:sp>
        <p:nvSpPr>
          <p:cNvPr id="47" name="Text 44"/>
          <p:cNvSpPr/>
          <p:nvPr/>
        </p:nvSpPr>
        <p:spPr>
          <a:xfrm>
            <a:off x="5687568" y="3968496"/>
            <a:ext cx="5696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지정가(Limit) · 시장가(Market) · 조건부(Trigger) 중 선택.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5074920" y="4389120"/>
            <a:ext cx="6400800" cy="0"/>
          </a:xfrm>
          <a:prstGeom prst="line">
            <a:avLst/>
          </a:prstGeom>
          <a:noFill/>
          <a:ln w="12700">
            <a:solidFill>
              <a:srgbClr val="E2DB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6"/>
          <p:cNvSpPr/>
          <p:nvPr/>
        </p:nvSpPr>
        <p:spPr>
          <a:xfrm>
            <a:off x="5120640" y="4517136"/>
            <a:ext cx="384048" cy="384048"/>
          </a:xfrm>
          <a:prstGeom prst="ellipse">
            <a:avLst/>
          </a:prstGeom>
          <a:solidFill>
            <a:srgbClr val="EFEADB"/>
          </a:solidFill>
          <a:ln w="12700">
            <a:solidFill>
              <a:srgbClr val="EFEA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7"/>
          <p:cNvSpPr/>
          <p:nvPr/>
        </p:nvSpPr>
        <p:spPr>
          <a:xfrm>
            <a:off x="5120640" y="4517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5687568" y="4471416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 · 수량</a:t>
            </a:r>
            <a:endParaRPr lang="en-US" sz="1350" dirty="0"/>
          </a:p>
        </p:txBody>
      </p:sp>
      <p:sp>
        <p:nvSpPr>
          <p:cNvPr id="52" name="Text 49"/>
          <p:cNvSpPr/>
          <p:nvPr/>
        </p:nvSpPr>
        <p:spPr>
          <a:xfrm>
            <a:off x="5687568" y="4745736"/>
            <a:ext cx="5696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봇이 계산해 API로 채워 넣는 값이 바로 이 두 칸입니다.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5074920" y="5166360"/>
            <a:ext cx="6400800" cy="0"/>
          </a:xfrm>
          <a:prstGeom prst="line">
            <a:avLst/>
          </a:prstGeom>
          <a:noFill/>
          <a:ln w="12700">
            <a:solidFill>
              <a:srgbClr val="E2DB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1"/>
          <p:cNvSpPr/>
          <p:nvPr/>
        </p:nvSpPr>
        <p:spPr>
          <a:xfrm>
            <a:off x="5120640" y="5294376"/>
            <a:ext cx="384048" cy="384048"/>
          </a:xfrm>
          <a:prstGeom prst="ellipse">
            <a:avLst/>
          </a:prstGeom>
          <a:solidFill>
            <a:srgbClr val="EFEADB"/>
          </a:solidFill>
          <a:ln w="12700">
            <a:solidFill>
              <a:srgbClr val="EFEA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2"/>
          <p:cNvSpPr/>
          <p:nvPr/>
        </p:nvSpPr>
        <p:spPr>
          <a:xfrm>
            <a:off x="5120640" y="5294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6" name="Text 53"/>
          <p:cNvSpPr/>
          <p:nvPr/>
        </p:nvSpPr>
        <p:spPr>
          <a:xfrm>
            <a:off x="5687568" y="5248656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SL</a:t>
            </a:r>
            <a:endParaRPr lang="en-US" sz="1350" dirty="0"/>
          </a:p>
        </p:txBody>
      </p:sp>
      <p:sp>
        <p:nvSpPr>
          <p:cNvPr id="57" name="Text 54"/>
          <p:cNvSpPr/>
          <p:nvPr/>
        </p:nvSpPr>
        <p:spPr>
          <a:xfrm>
            <a:off x="5687568" y="5522976"/>
            <a:ext cx="5696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익절·손절 가격을 주문과 함께 걸어 둘 수 있습니다.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 ·   선물 화면과 주문창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교차 vs 격리 — 봇 설정의 핵심 갈림길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전략이라도 마진 모드에 따라 청산 위험의 성격이 완전히 달라집니다.</a:t>
            </a:r>
            <a:endParaRPr lang="en-US" sz="1400" dirty="0"/>
          </a:p>
        </p:txBody>
      </p:sp>
      <p:pic>
        <p:nvPicPr>
          <p:cNvPr id="5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28232"/>
            <a:ext cx="256032" cy="2103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매매동반자  ·  비트겟 자동매매 과정 1주차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1874520"/>
            <a:ext cx="5376672" cy="2971800"/>
          </a:xfrm>
          <a:prstGeom prst="roundRect">
            <a:avLst>
              <a:gd name="adj" fmla="val 2154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795528" y="208483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교차 (Cross)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95528" y="248716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지갑 전체 자산이 증거금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95528" y="2926080"/>
            <a:ext cx="4800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청산가가 멀어져 잘 버팁니다</a:t>
            </a:r>
            <a:endParaRPr lang="en-US" sz="1200" dirty="0"/>
          </a:p>
          <a:p>
            <a:pPr marL="0" indent="0">
              <a:lnSpc>
                <a:spcPts val="22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여러 포지션이 증거금을 공유합니다</a:t>
            </a:r>
            <a:endParaRPr lang="en-US" sz="1200" dirty="0"/>
          </a:p>
          <a:p>
            <a:pPr marL="0" indent="0">
              <a:lnSpc>
                <a:spcPts val="22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청산 시 계좌 전체가 위험합니다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309360" y="1874520"/>
            <a:ext cx="5376672" cy="2971800"/>
          </a:xfrm>
          <a:prstGeom prst="roundRect">
            <a:avLst>
              <a:gd name="adj" fmla="val 2154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6601968" y="208483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격리 (Isolated)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601968" y="248716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해당 포지션 증거금만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601968" y="2926080"/>
            <a:ext cx="4800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손실이 넣은 증거금으로 한정됩니다</a:t>
            </a:r>
            <a:endParaRPr lang="en-US" sz="1200" dirty="0"/>
          </a:p>
          <a:p>
            <a:pPr marL="0" indent="0">
              <a:lnSpc>
                <a:spcPts val="22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포지션별 위험을 따로 관리합니다</a:t>
            </a:r>
            <a:endParaRPr lang="en-US" sz="1200" dirty="0"/>
          </a:p>
          <a:p>
            <a:pPr marL="0" indent="0">
              <a:lnSpc>
                <a:spcPts val="22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청산가가 가까워 쉽게 털립니다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" y="5074920"/>
            <a:ext cx="11183112" cy="960120"/>
          </a:xfrm>
          <a:prstGeom prst="roundRect">
            <a:avLst>
              <a:gd name="adj" fmla="val 6667"/>
            </a:avLst>
          </a:prstGeom>
          <a:solidFill>
            <a:srgbClr val="2E3A26"/>
          </a:solidFill>
          <a:ln w="12700">
            <a:solidFill>
              <a:srgbClr val="E2DB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868680" y="507492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 비트겟 봇은 교차(Cross) · 롱(Long) 기준으로 설계되어 있습니다.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레버리지는 낮게 시작하고, 계좌 전체가 걸린다는 점을 항상 염두에 두고 투입 금액을 정하세요.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 ·   선물 화면과 주문창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포지션 탭 — 평단가 · 청산가 · 미실현손익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봇을 돌리는 동안 실제로 보게 되는 숫자는 이 네 가지입니다.</a:t>
            </a:r>
            <a:endParaRPr lang="en-US" sz="1400" dirty="0"/>
          </a:p>
        </p:txBody>
      </p:sp>
      <p:pic>
        <p:nvPicPr>
          <p:cNvPr id="5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28232"/>
            <a:ext cx="256032" cy="2103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매매동반자  ·  비트겟 자동매매 과정 1주차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1874520"/>
            <a:ext cx="11183112" cy="777240"/>
          </a:xfrm>
          <a:prstGeom prst="roundRect">
            <a:avLst>
              <a:gd name="adj" fmla="val 8235"/>
            </a:avLst>
          </a:prstGeom>
          <a:solidFill>
            <a:srgbClr val="2E3A26"/>
          </a:solidFill>
          <a:ln w="12700">
            <a:solidFill>
              <a:srgbClr val="E2DB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868680" y="18745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평단가는 실제 체결의 가중평균이라 임의로 바꿀 수 없습니다.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추가 진입이 있어야만 움직이고, 부분 청산은 수량만 줄어듭니다.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88720" y="3520440"/>
            <a:ext cx="9784080" cy="0"/>
          </a:xfrm>
          <a:prstGeom prst="line">
            <a:avLst/>
          </a:prstGeom>
          <a:noFill/>
          <a:ln w="38100">
            <a:solidFill>
              <a:srgbClr val="E2DB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920240" y="3364992"/>
            <a:ext cx="0" cy="310896"/>
          </a:xfrm>
          <a:prstGeom prst="line">
            <a:avLst/>
          </a:prstGeom>
          <a:noFill/>
          <a:ln w="38100">
            <a:solidFill>
              <a:srgbClr val="8C85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1234440" y="30358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청산가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846320" y="3364992"/>
            <a:ext cx="0" cy="310896"/>
          </a:xfrm>
          <a:prstGeom prst="line">
            <a:avLst/>
          </a:prstGeom>
          <a:noFill/>
          <a:ln w="38100">
            <a:solidFill>
              <a:srgbClr val="A97F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4160520" y="30358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평단가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806440" y="3364992"/>
            <a:ext cx="0" cy="310896"/>
          </a:xfrm>
          <a:prstGeom prst="line">
            <a:avLst/>
          </a:prstGeom>
          <a:noFill/>
          <a:ln w="38100">
            <a:solidFill>
              <a:srgbClr val="A97F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5120640" y="30358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235440" y="3364992"/>
            <a:ext cx="0" cy="310896"/>
          </a:xfrm>
          <a:prstGeom prst="line">
            <a:avLst/>
          </a:prstGeom>
          <a:noFill/>
          <a:ln w="38100">
            <a:solidFill>
              <a:srgbClr val="2E3A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8549640" y="30358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현재가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1188720" y="3675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손실 방향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144000" y="3675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수익 방향 →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02920" y="4069080"/>
            <a:ext cx="2688336" cy="1938528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740664" y="429768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진입가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740664" y="4864608"/>
            <a:ext cx="2231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체결 가격의 가중평균. 추가 진입이 있을 때만 다시 계산됩니다.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328416" y="4069080"/>
            <a:ext cx="2688336" cy="1938528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3566160" y="429768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청산가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3566160" y="4864608"/>
            <a:ext cx="2231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증거금이 소진되어 포지션이 강제 종료되는 가격입니다.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153912" y="4069080"/>
            <a:ext cx="2688336" cy="1938528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6391656" y="429768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손익분기가 (BEP)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6391656" y="4864608"/>
            <a:ext cx="2231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수수료까지 포함한 본전 가격. 평단가와는 다른 값입니다.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8979408" y="4069080"/>
            <a:ext cx="2688336" cy="1938528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9217152" y="429768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미실현 손익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9217152" y="4864608"/>
            <a:ext cx="2231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아직 청산하지 않은 포지션의 평가 손익입니다.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  ·   자산 확인과 수익 점검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자산 확인 — Total balance 하나만 보세요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→ Accounts → Futures → Coin-M Futures 순서로 들어가면 확인할 수 있습니다.</a:t>
            </a:r>
            <a:endParaRPr lang="en-US" sz="1400" dirty="0"/>
          </a:p>
        </p:txBody>
      </p:sp>
      <p:pic>
        <p:nvPicPr>
          <p:cNvPr id="5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28232"/>
            <a:ext cx="256032" cy="2103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매매동반자  ·  비트겟 자동매매 과정 1주차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1874520"/>
            <a:ext cx="11183112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assets/s4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084832"/>
            <a:ext cx="10817352" cy="223113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02920" y="4709160"/>
            <a:ext cx="3529584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758952" y="48828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balance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58952" y="515721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잔고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58952" y="541324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미실현 손익까지 포함한 현재 총 평가 금액. 이 값의 변화만 주기적으로 보면 됩니다.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315968" y="4709160"/>
            <a:ext cx="3529584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4572000" y="48828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balance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572000" y="515721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지갑 잔고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572000" y="541324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순수하게 지갑에 들어 있는 USDT. 청산되지 않은 손익은 반영되지 않습니다.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129016" y="4709160"/>
            <a:ext cx="3529584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/>
          <p:nvPr/>
        </p:nvSpPr>
        <p:spPr>
          <a:xfrm>
            <a:off x="8385048" y="48828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PnL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8385048" y="515721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당일 손익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8385048" y="541324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하루의 실현·미실현 손익. 빨간색은 손실을 의미합니다.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   ·   1주차 정리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해볼 것 · 다음 시간 준비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배운 화면은 손으로 한 번씩 눌러봐야 남습니다. 다음 주 실습 전에 아래 항목을 확인해 주세요.</a:t>
            </a:r>
            <a:endParaRPr lang="en-US" sz="1400" dirty="0"/>
          </a:p>
        </p:txBody>
      </p:sp>
      <p:pic>
        <p:nvPicPr>
          <p:cNvPr id="5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28232"/>
            <a:ext cx="256032" cy="2103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매매동반자  ·  비트겟 자동매매 과정 1주차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1874520"/>
            <a:ext cx="5532120" cy="374904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777240" y="2103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 오늘의 체크리스트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68680" y="260604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6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계정 로그인 · KYC 인증 상태 확인</a:t>
            </a:r>
            <a:endParaRPr lang="en-US" sz="1250" dirty="0"/>
          </a:p>
          <a:p>
            <a:pPr marL="342900" indent="-342900">
              <a:lnSpc>
                <a:spcPts val="26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우상단 아이콘 6개 위치 눈에 익히기</a:t>
            </a:r>
            <a:endParaRPr lang="en-US" sz="1250" dirty="0"/>
          </a:p>
          <a:p>
            <a:pPr marL="342900" indent="-342900">
              <a:lnSpc>
                <a:spcPts val="26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현물 → 선물 Transfer 소액으로 해보기</a:t>
            </a:r>
            <a:endParaRPr lang="en-US" sz="1250" dirty="0"/>
          </a:p>
          <a:p>
            <a:pPr marL="342900" indent="-342900">
              <a:lnSpc>
                <a:spcPts val="26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USDT-M 주문창 열어 마진 모드 · 레버리지 확인</a:t>
            </a:r>
            <a:endParaRPr lang="en-US" sz="1250" dirty="0"/>
          </a:p>
          <a:p>
            <a:pPr marL="342900" indent="-342900">
              <a:lnSpc>
                <a:spcPts val="26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balance와 Fund flow 위치 확인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309360" y="1874520"/>
            <a:ext cx="5376672" cy="374904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blurRad="114300" dist="25400" dir="5400000" algn="bl" rotWithShape="0">
              <a:srgbClr val="D8CFB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6583680" y="2103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  다음 시간에 할 일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583680" y="2651760"/>
            <a:ext cx="402336" cy="402336"/>
          </a:xfrm>
          <a:prstGeom prst="ellipse">
            <a:avLst/>
          </a:prstGeom>
          <a:solidFill>
            <a:srgbClr val="EFEADB"/>
          </a:solidFill>
          <a:ln w="12700">
            <a:solidFill>
              <a:srgbClr val="EFEA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658368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132320" y="26151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키 발급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132320" y="29077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프로필 → API keys에서 봇 연동용 키를 만들고 권한을 설정합니다.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583680" y="3611880"/>
            <a:ext cx="402336" cy="402336"/>
          </a:xfrm>
          <a:prstGeom prst="ellipse">
            <a:avLst/>
          </a:prstGeom>
          <a:solidFill>
            <a:srgbClr val="EFEADB"/>
          </a:solidFill>
          <a:ln w="12700">
            <a:solidFill>
              <a:srgbClr val="EFEA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6583680" y="3611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132320" y="357530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봇 만들기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7132320" y="38679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발급받은 키로 아주 작은 주문을 내보며 연결을 확인합니다.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583680" y="4572000"/>
            <a:ext cx="402336" cy="402336"/>
          </a:xfrm>
          <a:prstGeom prst="ellipse">
            <a:avLst/>
          </a:prstGeom>
          <a:solidFill>
            <a:srgbClr val="EFEADB"/>
          </a:solidFill>
          <a:ln w="12700">
            <a:solidFill>
              <a:srgbClr val="EFEA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6583680" y="4572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97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132320" y="453542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1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LS증권 ↔ 비트겟 연결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7132320" y="48280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C8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데이터는 LS증권, 주문은 비트겟으로 나눠 쓰는 구조를 잡습니다.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02920" y="580644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9B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자료는 거래소 사용법 안내 교육용이며 투자 권유가 아닙니다  ·  선물·레버리지 거래는 큰 손실 위험을 동반하며 모든 투자 책임은 본인에게 있습니다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2098</Words>
  <Application>Microsoft Office PowerPoint</Application>
  <PresentationFormat>와이드스크린</PresentationFormat>
  <Paragraphs>376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류영미</cp:lastModifiedBy>
  <cp:revision>2</cp:revision>
  <dcterms:created xsi:type="dcterms:W3CDTF">2026-07-29T00:20:17Z</dcterms:created>
  <dcterms:modified xsi:type="dcterms:W3CDTF">2026-07-29T00:30:13Z</dcterms:modified>
</cp:coreProperties>
</file>