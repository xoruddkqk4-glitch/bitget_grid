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601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8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 ·  TRADING COMPANIONS GROUP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MANUAL  ·  초보자용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212848"/>
            <a:ext cx="45720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4436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Chat ID 발급 가이드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BotFather부터 자동매매 알림 연동까지 — 5분 안에 완성</a:t>
            </a:r>
            <a:endParaRPr lang="en-US" sz="1300" dirty="0"/>
          </a:p>
        </p:txBody>
      </p:sp>
      <p:pic>
        <p:nvPicPr>
          <p:cNvPr id="8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274820"/>
            <a:ext cx="283464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 Chat ID  발급 매뉴얼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37160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· 텔레그램 봇 매뉴얼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2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OVERVIEW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전체 진행 흐름 8단계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앱 한 번만 켜면 5~10분 안에 모두 완료됩니다.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" y="1783080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76072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76072" y="240487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설치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76072" y="267004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iOS · Android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532888" y="1783080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269748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2697480" y="240487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BotFather 검색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697480" y="267004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공식 ✓ 확인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54296" y="1783080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4818888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3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4818888" y="240487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대화 시작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818888" y="267004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[Start] 클릭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775704" y="1783080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940296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4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6940296" y="2404872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/newbot 입력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940296" y="2670048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새 봇 생성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11480" y="3099816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576072" y="31455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5</a:t>
            </a:r>
            <a:endParaRPr lang="en-US" sz="3400" dirty="0"/>
          </a:p>
        </p:txBody>
      </p:sp>
      <p:sp>
        <p:nvSpPr>
          <p:cNvPr id="27" name="Text 24"/>
          <p:cNvSpPr/>
          <p:nvPr/>
        </p:nvSpPr>
        <p:spPr>
          <a:xfrm>
            <a:off x="576072" y="37216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봇 이름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76072" y="3986784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표시 이름 설정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532888" y="3099816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2697480" y="31455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6</a:t>
            </a:r>
            <a:endParaRPr lang="en-US" sz="3400" dirty="0"/>
          </a:p>
        </p:txBody>
      </p:sp>
      <p:sp>
        <p:nvSpPr>
          <p:cNvPr id="31" name="Text 28"/>
          <p:cNvSpPr/>
          <p:nvPr/>
        </p:nvSpPr>
        <p:spPr>
          <a:xfrm>
            <a:off x="2697480" y="37216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봇 username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2697480" y="3986784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_bot 으로 끝남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654296" y="3099816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4818888" y="31455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7</a:t>
            </a:r>
            <a:endParaRPr lang="en-US" sz="3400" dirty="0"/>
          </a:p>
        </p:txBody>
      </p:sp>
      <p:sp>
        <p:nvSpPr>
          <p:cNvPr id="35" name="Text 32"/>
          <p:cNvSpPr/>
          <p:nvPr/>
        </p:nvSpPr>
        <p:spPr>
          <a:xfrm>
            <a:off x="4818888" y="37216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토큰(Token) 받기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4818888" y="3986784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HTTP API Token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775704" y="3099816"/>
            <a:ext cx="2029968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6940296" y="31455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8</a:t>
            </a:r>
            <a:endParaRPr lang="en-US" sz="3400" dirty="0"/>
          </a:p>
        </p:txBody>
      </p:sp>
      <p:sp>
        <p:nvSpPr>
          <p:cNvPr id="39" name="Text 36"/>
          <p:cNvSpPr/>
          <p:nvPr/>
        </p:nvSpPr>
        <p:spPr>
          <a:xfrm>
            <a:off x="6940296" y="3721608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Chat ID 받기</a:t>
            </a:r>
            <a:endParaRPr lang="en-US" sz="1250" dirty="0"/>
          </a:p>
        </p:txBody>
      </p:sp>
      <p:sp>
        <p:nvSpPr>
          <p:cNvPr id="40" name="Text 37"/>
          <p:cNvSpPr/>
          <p:nvPr/>
        </p:nvSpPr>
        <p:spPr>
          <a:xfrm>
            <a:off x="6940296" y="3986784"/>
            <a:ext cx="1700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getUpdates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11480" y="4430268"/>
            <a:ext cx="8321040" cy="310896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502920" y="44302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💡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8단계만 따라하면 자동매매 시스템이 보내는 매수·매도 알림을 실시간으로 받을 수 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 Chat ID  발급 매뉴얼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37160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· 텔레그램 봇 매뉴얼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3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BEFORE WE START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왜 자동매매에 텔레그램이 필요한가?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두 가지 "열쇠" 만 발급받으면, 봇이 24시간 매매 상황을 알려줍니다.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40690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17320" y="2157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01.  Bot Token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1520" y="2697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봇의 신분증 — 메시지를 보내는 권한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3017520"/>
            <a:ext cx="3520440" cy="384048"/>
          </a:xfrm>
          <a:prstGeom prst="rect">
            <a:avLst/>
          </a:prstGeom>
          <a:solidFill>
            <a:srgbClr val="F7EFD8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731520" y="30175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33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7891234567:AAEhBOweik6...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20" y="3520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발급처: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@BotFather (텔레그램 공식 봇)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" y="37673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용도: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봇 인증 — 자동매매 → 텔레그램 메시지 발송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40142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필요시점: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 7 (BotFather가 응답)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17720" y="1828800"/>
            <a:ext cx="40690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892040" y="2103120"/>
            <a:ext cx="548640" cy="548640"/>
          </a:xfrm>
          <a:prstGeom prst="ellipse">
            <a:avLst/>
          </a:prstGeom>
          <a:solidFill>
            <a:srgbClr val="EAF6FC"/>
          </a:solidFill>
          <a:ln w="12700">
            <a:solidFill>
              <a:srgbClr val="EAF6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48920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📨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577840" y="2157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02.  Chat ID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892040" y="26974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내 텔레그램 계정의 고유 번호 — 받는 사람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92040" y="3017520"/>
            <a:ext cx="3520440" cy="384048"/>
          </a:xfrm>
          <a:prstGeom prst="rect">
            <a:avLst/>
          </a:prstGeom>
          <a:solidFill>
            <a:srgbClr val="EAF6FC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892040" y="30175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87BD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1234567890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892040" y="3520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발급처: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Telegram API (getUpdates)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92040" y="37673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용도: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어떤 채팅방으로 메시지를 보낼지 지정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92040" y="401421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필요시점: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 8 (getUpdates 응답에서 추출)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11480" y="4430268"/>
            <a:ext cx="8321040" cy="310896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502920" y="44302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⚠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두 값 모두 "비밀번호" 와 같음 — 매매동반자 시스템에 등록 외에는 절대 외부에 공개 금지.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 Chat ID  발급 매뉴얼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37160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· 텔레그램 봇 매뉴얼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4 /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5943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114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188720" y="566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앱 설치 &amp; 가입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이미 텔레그램을 쓰고 있다면 다음 단계로 바로 진행하세요.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57200" y="1783080"/>
            <a:ext cx="73152" cy="2377440"/>
          </a:xfrm>
          <a:prstGeom prst="rect">
            <a:avLst/>
          </a:prstGeom>
          <a:solidFill>
            <a:srgbClr val="2AABEE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5720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iOS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5720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App Store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2834640"/>
            <a:ext cx="1463040" cy="91440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4008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4008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"Telegram" 검색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423160" y="1783080"/>
            <a:ext cx="1828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2423160" y="1783080"/>
            <a:ext cx="73152" cy="2377440"/>
          </a:xfrm>
          <a:prstGeom prst="rect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242316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Android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2423160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Play Store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606040" y="2834640"/>
            <a:ext cx="1463040" cy="91440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260604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260604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"Telegram" 검색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26280" y="1783080"/>
            <a:ext cx="4160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526280" y="1783080"/>
            <a:ext cx="73152" cy="23774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4754880" y="196596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설치 후 가입 절차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4754880" y="2468880"/>
            <a:ext cx="228600" cy="228600"/>
          </a:xfrm>
          <a:prstGeom prst="ellipse">
            <a:avLst/>
          </a:prstGeom>
          <a:solidFill>
            <a:srgbClr val="EAF6FC"/>
          </a:solidFill>
          <a:ln w="12700">
            <a:solidFill>
              <a:srgbClr val="EAF6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4754880" y="2468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7BD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074920" y="24505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앱 실행 → [Start Messaging] 탭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754880" y="2788920"/>
            <a:ext cx="228600" cy="228600"/>
          </a:xfrm>
          <a:prstGeom prst="ellipse">
            <a:avLst/>
          </a:prstGeom>
          <a:solidFill>
            <a:srgbClr val="EAF6FC"/>
          </a:solidFill>
          <a:ln w="12700">
            <a:solidFill>
              <a:srgbClr val="EAF6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4754880" y="2788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7BD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2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074920" y="27706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국가 선택 (대한민국 +82)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754880" y="3108960"/>
            <a:ext cx="228600" cy="228600"/>
          </a:xfrm>
          <a:prstGeom prst="ellipse">
            <a:avLst/>
          </a:prstGeom>
          <a:solidFill>
            <a:srgbClr val="EAF6FC"/>
          </a:solidFill>
          <a:ln w="12700">
            <a:solidFill>
              <a:srgbClr val="EAF6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4754880" y="3108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7BD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074920" y="30906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휴대폰 번호 입력 → SMS 인증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754880" y="3429000"/>
            <a:ext cx="228600" cy="228600"/>
          </a:xfrm>
          <a:prstGeom prst="ellipse">
            <a:avLst/>
          </a:prstGeom>
          <a:solidFill>
            <a:srgbClr val="EAF6FC"/>
          </a:solidFill>
          <a:ln w="12700">
            <a:solidFill>
              <a:srgbClr val="EAF6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4754880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7BD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074920" y="34107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이름 · 사용자명 설정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754880" y="3749040"/>
            <a:ext cx="228600" cy="228600"/>
          </a:xfrm>
          <a:prstGeom prst="ellipse">
            <a:avLst/>
          </a:prstGeom>
          <a:solidFill>
            <a:srgbClr val="EAF6FC"/>
          </a:solidFill>
          <a:ln w="12700">
            <a:solidFill>
              <a:srgbClr val="EAF6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4754880" y="3749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87BD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5074920" y="37307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프로필 사진 (선택) — 건너뛰기 가능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411480" y="4430268"/>
            <a:ext cx="8321040" cy="310896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502920" y="44302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💡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텔레그램은 100% 무료, 광고 없음. 전화번호 인증만 통과하면 즉시 사용 가능합니다.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 Chat ID  발급 매뉴얼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37160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· 텔레그램 봇 매뉴얼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5 /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5943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114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188720" y="566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BotFather 찾기 (텔레그램 내 검색)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BotFather = 모든 봇을 만들어주는 텔레그램 공식 봇</a:t>
            </a:r>
            <a:endParaRPr lang="en-US" sz="1200" dirty="0"/>
          </a:p>
        </p:txBody>
      </p:sp>
      <p:pic>
        <p:nvPicPr>
          <p:cNvPr id="11" name="Image 1" descr="mockups/mockup_1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1600200" cy="2606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4224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BotFather 검색 화면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06040" y="1691640"/>
            <a:ext cx="6080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2606040" y="1691640"/>
            <a:ext cx="73152" cy="1325880"/>
          </a:xfrm>
          <a:prstGeom prst="rect">
            <a:avLst/>
          </a:prstGeom>
          <a:solidFill>
            <a:srgbClr val="2AABEE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2834640" y="178308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검색 순서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2834640" y="2121408"/>
            <a:ext cx="5623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①  </a:t>
            </a: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앱 우측 상단 </a:t>
            </a:r>
            <a:r>
              <a:rPr lang="en-US" sz="11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🔍 </a:t>
            </a: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검색 아이콘 클릭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②  </a:t>
            </a: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검색창에 </a:t>
            </a:r>
            <a:r>
              <a:rPr lang="en-US" sz="1150" b="1" dirty="0">
                <a:solidFill>
                  <a:srgbClr val="1A87BD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"BotFather"</a:t>
            </a: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입력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③  </a:t>
            </a: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결과 중 </a:t>
            </a:r>
            <a:r>
              <a:rPr lang="en-US" sz="11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✓ </a:t>
            </a:r>
            <a:r>
              <a:rPr lang="ko-KR" altLang="en-US" sz="11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왼쪽 그림과 같은 </a:t>
            </a:r>
            <a:r>
              <a:rPr lang="en-US" sz="1150" dirty="0" err="1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계정</a:t>
            </a: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클릭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2606040" y="3108960"/>
            <a:ext cx="6080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2606040" y="3108960"/>
            <a:ext cx="73152" cy="1325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2834640" y="3200400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⚠  </a:t>
            </a:r>
            <a:r>
              <a:rPr lang="en-US" sz="14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가짜 BotFather 주의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834640" y="3547872"/>
            <a:ext cx="5623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비슷한 이름 (Bot_Father, BotFather_Official 등) 다수 존재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정확한 사용자명은 </a:t>
            </a: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@BotFather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(대소문자 무관)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</a:t>
            </a:r>
            <a:r>
              <a:rPr lang="en-US" sz="1100" b="1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프로필에 파란 ✓ 마크 없으면 즉시 닫기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11480" y="4430268"/>
            <a:ext cx="8321040" cy="310896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502920" y="44302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⚠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공식 BotFather 만이 안전한 토큰을 발급합니다. 가짜 봇에 정보를 입력하면 계정이 탈취될 수 있습니다.</a:t>
            </a:r>
            <a:endParaRPr lang="en-US" sz="11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AAE01E5C-AA7C-9B0A-F5ED-E9167793D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1" y="2482596"/>
            <a:ext cx="1299754" cy="2111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 Chat ID  발급 매뉴얼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37160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· 텔레그램 봇 매뉴얼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6 /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5943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114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188720" y="566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  3 → 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대화 시작 → /newbot 명령 입력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BotFather와 채팅을 열고, 새 봇 생성을 요청합니다.</a:t>
            </a:r>
            <a:endParaRPr lang="en-US" sz="1200" dirty="0"/>
          </a:p>
        </p:txBody>
      </p:sp>
      <p:pic>
        <p:nvPicPr>
          <p:cNvPr id="11" name="Image 1" descr="mockups/mockup_2_new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1600200" cy="2606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" y="42245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BotFather 대화창 — /newbot 흐름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697480" y="1691640"/>
            <a:ext cx="6080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대화 → 명령 → 응답 흐름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2697480" y="2148840"/>
            <a:ext cx="1844040" cy="96012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2697480" y="2148840"/>
            <a:ext cx="1844040" cy="45720"/>
          </a:xfrm>
          <a:prstGeom prst="rect">
            <a:avLst/>
          </a:prstGeom>
          <a:solidFill>
            <a:srgbClr val="2AABEE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2788920" y="2258568"/>
            <a:ext cx="1661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788920" y="2468880"/>
            <a:ext cx="1661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대화 시작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788920" y="2752344"/>
            <a:ext cx="166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[Start] 또는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[/start] 클릭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50664" y="251460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678680" y="2148840"/>
            <a:ext cx="1844040" cy="96012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7"/>
          <p:cNvSpPr/>
          <p:nvPr/>
        </p:nvSpPr>
        <p:spPr>
          <a:xfrm>
            <a:off x="4678680" y="2148840"/>
            <a:ext cx="1844040" cy="457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4770120" y="2258568"/>
            <a:ext cx="1661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770120" y="2468880"/>
            <a:ext cx="1661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명령 입력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770120" y="2752344"/>
            <a:ext cx="166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메시지창에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/newbot 전송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531864" y="251460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659880" y="2148840"/>
            <a:ext cx="1844040" cy="960120"/>
          </a:xfrm>
          <a:prstGeom prst="rect">
            <a:avLst/>
          </a:prstGeom>
          <a:solidFill>
            <a:srgbClr val="FAFB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3"/>
          <p:cNvSpPr/>
          <p:nvPr/>
        </p:nvSpPr>
        <p:spPr>
          <a:xfrm>
            <a:off x="6659880" y="2148840"/>
            <a:ext cx="1844040" cy="45720"/>
          </a:xfrm>
          <a:prstGeom prst="rect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6751320" y="2258568"/>
            <a:ext cx="1661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7A5A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응답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751320" y="2468880"/>
            <a:ext cx="1661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이름 요청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751320" y="2752344"/>
            <a:ext cx="1661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"Please choose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a name…"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2697480" y="3246120"/>
            <a:ext cx="5897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8"/>
          <p:cNvSpPr/>
          <p:nvPr/>
        </p:nvSpPr>
        <p:spPr>
          <a:xfrm>
            <a:off x="2697480" y="3246120"/>
            <a:ext cx="73152" cy="1188720"/>
          </a:xfrm>
          <a:prstGeom prst="rect">
            <a:avLst/>
          </a:prstGeom>
          <a:solidFill>
            <a:srgbClr val="2AABEE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/>
          <p:nvPr/>
        </p:nvSpPr>
        <p:spPr>
          <a:xfrm>
            <a:off x="2880360" y="333756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💬  메시지 입력 시 주의사항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2880360" y="3657600"/>
            <a:ext cx="5715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명령어는 </a:t>
            </a: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반드시 슬래시 / 로 시작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— 띄어쓰기 없이 입력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처음 클릭 후 </a:t>
            </a:r>
            <a:r>
              <a:rPr lang="en-US" sz="1100" b="1" dirty="0">
                <a:solidFill>
                  <a:srgbClr val="1A87BD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[메뉴]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버튼에서 /newbot 자동 선택도 가능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잘못 입력했으면 </a:t>
            </a:r>
            <a:r>
              <a:rPr lang="en-US" sz="1100" b="1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/cancel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로 취소 후 다시 시작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11480" y="4430268"/>
            <a:ext cx="8321040" cy="310896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/>
          <p:cNvSpPr/>
          <p:nvPr/>
        </p:nvSpPr>
        <p:spPr>
          <a:xfrm>
            <a:off x="502920" y="44302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💡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/newbot 입력 후 BotFather가 "name?" 을 물어보면 다음 단계로 진행하세요.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 Chat ID  발급 매뉴얼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37160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· 텔레그램 봇 매뉴얼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7 /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5943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114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5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188720" y="566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  5 → 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봇 이름 &amp; 사용자명(username) 설정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두 단계에 걸쳐 입력 — "표시 이름" 과 "고유 아이디" 는 다릅니다.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40690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57200" y="1783080"/>
            <a:ext cx="73152" cy="2468880"/>
          </a:xfrm>
          <a:prstGeom prst="rect">
            <a:avLst/>
          </a:prstGeom>
          <a:solidFill>
            <a:srgbClr val="2AABEE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731520" y="1984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 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31520" y="2194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봇 이름 (Display Name)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31520" y="2651760"/>
            <a:ext cx="3520440" cy="411480"/>
          </a:xfrm>
          <a:prstGeom prst="rect">
            <a:avLst/>
          </a:prstGeom>
          <a:solidFill>
            <a:srgbClr val="EAF6FC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31520" y="2651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87BD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내 자동매매 알림봇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" y="320040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특징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한글 / 영문 / 이모지 모두 허용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최대 64자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나중에 자유롭게 변경 가능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채팅 목록 / 알림에 표시되는 이름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17720" y="1783080"/>
            <a:ext cx="40690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4617720" y="1783080"/>
            <a:ext cx="73152" cy="24688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892040" y="1984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 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892040" y="21945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Username (고유 아이디)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4892040" y="2651760"/>
            <a:ext cx="3520440" cy="411480"/>
          </a:xfrm>
          <a:prstGeom prst="rect">
            <a:avLst/>
          </a:prstGeom>
          <a:solidFill>
            <a:srgbClr val="F7EFD8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4892040" y="2651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C7338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my_trading_alert_bot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92040" y="3200400"/>
            <a:ext cx="3520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규칙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영문 + 숫자 + 언더바(_)만 가능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반드시 </a:t>
            </a: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_bot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또는 </a:t>
            </a: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으로 끝나야 함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</a:t>
            </a:r>
            <a:r>
              <a:rPr lang="en-US" sz="1100" b="1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전 세계 고유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— 이미 있으면 다른 이름 필요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나중에 변경 불가 — 신중히 결정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11480" y="4430268"/>
            <a:ext cx="8321040" cy="310896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502920" y="44302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💡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Username가 이미 사용 중이면 "Sorry, this username is invalid" 라고 나옵니다 — 다른 이름으로 재시도.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 Chat ID  발급 매뉴얼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37160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· 텔레그램 봇 매뉴얼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8 /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5943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114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7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188720" y="566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토큰(Bot Token) 발급 받기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Username 입력 후 BotFather가 즉시 토큰을 보내줍니다 — 이게 "열쇠 1"</a:t>
            </a:r>
            <a:endParaRPr lang="en-US" sz="1200" dirty="0"/>
          </a:p>
        </p:txBody>
      </p:sp>
      <p:pic>
        <p:nvPicPr>
          <p:cNvPr id="11" name="Image 1" descr="mockups/mockup_3_tok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1600200" cy="2606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4224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 발급 완료 화면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06040" y="1691640"/>
            <a:ext cx="6080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2606040" y="1691640"/>
            <a:ext cx="73152" cy="11430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2834640" y="178308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 형식 (구조)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834640" y="2121408"/>
            <a:ext cx="5623560" cy="365760"/>
          </a:xfrm>
          <a:prstGeom prst="rect">
            <a:avLst/>
          </a:prstGeom>
          <a:solidFill>
            <a:srgbClr val="F7EFD8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2834640" y="212140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87BD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7891234567</a:t>
            </a:r>
            <a:r>
              <a:rPr lang="en-US" sz="1300" b="1" dirty="0">
                <a:solidFill>
                  <a:srgbClr val="1A2733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 : </a:t>
            </a:r>
            <a:r>
              <a:rPr lang="en-US" sz="1300" b="1" dirty="0">
                <a:solidFill>
                  <a:srgbClr val="8C7338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AAEhBOweik6sWqLpO9_vKxYZmnpQrSTu...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834640" y="2496312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87BD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← 봇 숫자 ID</a:t>
            </a:r>
            <a:r>
              <a:rPr lang="en-US" sz="10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                 </a:t>
            </a:r>
            <a:r>
              <a:rPr lang="en-US" sz="10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← 비밀 인증 코드 (35~40자)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606040" y="2926080"/>
            <a:ext cx="6080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2606040" y="2926080"/>
            <a:ext cx="73152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2834640" y="301752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🔐  </a:t>
            </a:r>
            <a:r>
              <a:rPr lang="en-US" sz="14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안전하게 보관하는 법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2834640" y="3355848"/>
            <a:ext cx="5623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F7A5A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✓  </a:t>
            </a: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추천: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 텍스트를 길게 눌러 복사 → 카톡 "나에게 보내기" 로 전송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F7A5A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✓  </a:t>
            </a: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추천: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PC 비밀번호 관리 앱 (1Password, Bitwarden 등) 에 저장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✗  금지: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단톡방·블로그·깃허브에 업로드 / 노트북 메모장에 평문 저장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87BD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🔄  </a:t>
            </a: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유출 시: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BotFather에 </a:t>
            </a:r>
            <a:r>
              <a:rPr lang="en-US" sz="1100" b="1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/revoke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명령으로 즉시 재발급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11480" y="4430268"/>
            <a:ext cx="8321040" cy="310896"/>
          </a:xfrm>
          <a:prstGeom prst="rect">
            <a:avLst/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502920" y="44302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⚠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토큰이 한 번 노출되면 누구나 내 봇으로 메시지를 보낼 수 있습니다 — 비밀번호처럼 다루세요.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 Chat ID  발급 매뉴얼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37160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· 텔레그램 봇 매뉴얼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9 /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5943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114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8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188720" y="566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  ·  PREP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내가 만든 봇과 대화 시작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Chat ID를 받으려면 — 먼저 내 봇에게 메시지를 한 번 보내야 합니다.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40233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57200" y="1783080"/>
            <a:ext cx="73152" cy="2606040"/>
          </a:xfrm>
          <a:prstGeom prst="rect">
            <a:avLst/>
          </a:prstGeom>
          <a:solidFill>
            <a:srgbClr val="2AABEE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왜 먼저 대화해야 하나?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080" y="2441448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텔레그램은 </a:t>
            </a:r>
            <a:r>
              <a:rPr lang="en-US" sz="11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"내가 먼저 봇에게 말한 적이 있는 사용자" </a:t>
            </a: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에게만 메시지를 보낼 수 있게 합니다 (스팸 방지).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따라서 자동매매 시스템이 나에게 알림을 보내려면 → 내가 봇에게 </a:t>
            </a:r>
            <a:r>
              <a:rPr lang="en-US" sz="1150" b="1" dirty="0">
                <a:solidFill>
                  <a:srgbClr val="1A87BD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최소 1개의 메시지</a:t>
            </a: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를 미리 보내둬야 합니다.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이 메시지가 </a:t>
            </a:r>
            <a:r>
              <a:rPr lang="en-US" sz="11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Chat ID를 만들어 </a:t>
            </a:r>
            <a:r>
              <a:rPr lang="en-US" sz="11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다음 단계 getUpdates에서 추출됩니다.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617720" y="1783080"/>
            <a:ext cx="40690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617720" y="1783080"/>
            <a:ext cx="73152" cy="26060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8006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진행 방법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800600" y="2468880"/>
            <a:ext cx="292608" cy="292608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4800600" y="2468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212080" y="2450592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 발급 메시지 안의 </a:t>
            </a: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t.me/내봇_username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링크를 탭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2926080"/>
            <a:ext cx="292608" cy="292608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800600" y="2926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212080" y="2907792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내 봇 프로필 화면에서 </a:t>
            </a: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[Start]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또는 [시작] 버튼 클릭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00600" y="3383280"/>
            <a:ext cx="292608" cy="292608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80060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212080" y="3364992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채팅창이 열리면 메시지로 </a:t>
            </a: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"hi" / "안녕"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등 아무거나 전송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00600" y="3840480"/>
            <a:ext cx="292608" cy="292608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4800600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212080" y="3822192"/>
            <a:ext cx="33832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메시지가 안 보낸 채로 </a:t>
            </a: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회색 상태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라도 OK — 전송만 되면 됨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11480" y="4430268"/>
            <a:ext cx="8321040" cy="310896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502920" y="44302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💡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봇이 응답하지 않아도 정상입니다. 내 메시지가 봇 쪽에 "수신" 되기만 하면 다음 단계 진행 가능.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 Chat ID  발급 매뉴얼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37160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· 텔레그램 봇 매뉴얼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10 / 14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11480" y="594360"/>
            <a:ext cx="640080" cy="640080"/>
          </a:xfrm>
          <a:prstGeom prst="ellipse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11480" y="594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8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188720" y="566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  ·  MAIN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887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Chat ID 받기 — getUpdates API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88720" y="1298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웹 브라우저 주소창에 URL 입력 한 번 — 그게 전부입니다.</a:t>
            </a:r>
            <a:endParaRPr lang="en-US" sz="1200" dirty="0"/>
          </a:p>
        </p:txBody>
      </p:sp>
      <p:pic>
        <p:nvPicPr>
          <p:cNvPr id="11" name="Image 1" descr="mockups/mockup_4_chat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91640"/>
            <a:ext cx="1600200" cy="2606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" y="42245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브라우저 JSON 응답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606040" y="1691640"/>
            <a:ext cx="6080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2606040" y="1691640"/>
            <a:ext cx="73152" cy="1325880"/>
          </a:xfrm>
          <a:prstGeom prst="rect">
            <a:avLst/>
          </a:prstGeom>
          <a:solidFill>
            <a:srgbClr val="2AABEE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/>
          <p:nvPr/>
        </p:nvSpPr>
        <p:spPr>
          <a:xfrm>
            <a:off x="2834640" y="178308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주소창에 입력할 URL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834640" y="2121408"/>
            <a:ext cx="5623560" cy="457200"/>
          </a:xfrm>
          <a:prstGeom prst="rect">
            <a:avLst/>
          </a:prstGeom>
          <a:solidFill>
            <a:srgbClr val="EAF6FC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2834640" y="212140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33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https://api.telegram.org/bot</a:t>
            </a:r>
            <a:r>
              <a:rPr lang="en-US" sz="1300" b="1" dirty="0">
                <a:solidFill>
                  <a:srgbClr val="C0392B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&lt;내토큰&gt;</a:t>
            </a:r>
            <a:r>
              <a:rPr lang="en-US" sz="1300" b="1" dirty="0">
                <a:solidFill>
                  <a:srgbClr val="1A2733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/getUpdates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834640" y="260604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예) 토큰이  </a:t>
            </a:r>
            <a:r>
              <a:rPr lang="en-US" sz="105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7891234567:AAEh...</a:t>
            </a:r>
            <a:r>
              <a:rPr lang="en-US" sz="10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 이라면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→  </a:t>
            </a:r>
            <a:r>
              <a:rPr lang="en-US" sz="105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api.telegram.org/bot</a:t>
            </a:r>
            <a:r>
              <a:rPr lang="en-US" sz="105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7891234567:AAEh...</a:t>
            </a:r>
            <a:r>
              <a:rPr lang="en-US" sz="105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/getUpdates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2606040" y="3108960"/>
            <a:ext cx="6080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2606040" y="3108960"/>
            <a:ext cx="73152" cy="13258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2834640" y="320040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JSON에서 Chat ID 찾기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2834640" y="3547872"/>
            <a:ext cx="5623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①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응답 </a:t>
            </a:r>
            <a:r>
              <a:rPr lang="en-US" sz="1100" dirty="0" err="1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JSON에서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</a:t>
            </a: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“from":{ "id": …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부분 찾기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②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"id" 뒤의 </a:t>
            </a: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숫자 (보통 9~10자리)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가 내 Chat ID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③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응답이 </a:t>
            </a:r>
            <a:r>
              <a:rPr lang="en-US" sz="1100" b="1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"result":[]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(빈 배열) → Step 9로 돌아가 봇에게 메시지 전송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11480" y="4430268"/>
            <a:ext cx="8321040" cy="310896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502920" y="44302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💡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Chat ID는 본인 계정마다 고유 — 한 번 발급받으면 영구히 동일한 번호가 사용됩니다.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 Chat ID  발급 매뉴얼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37160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· 텔레그램 봇 매뉴얼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11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FINAL  CHECK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동작 테스트 — 본인 봇으로 메시지 보내기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 + Chat ID를 합쳐서 한 줄 URL로 직접 메시지를 보내봅니다.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73152" cy="1371600"/>
          </a:xfrm>
          <a:prstGeom prst="rect">
            <a:avLst/>
          </a:prstGeom>
          <a:solidFill>
            <a:srgbClr val="2AABEE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0080" y="1947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테스트 URL (브라우저 주소창에 입력)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2331720"/>
            <a:ext cx="7863840" cy="502920"/>
          </a:xfrm>
          <a:prstGeom prst="rect">
            <a:avLst/>
          </a:prstGeom>
          <a:solidFill>
            <a:srgbClr val="EAF6FC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40080" y="2331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733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https://api.telegram.org/bot</a:t>
            </a:r>
            <a:r>
              <a:rPr lang="en-US" sz="1200" b="1" dirty="0">
                <a:solidFill>
                  <a:srgbClr val="8C7338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&lt;토큰&gt;</a:t>
            </a:r>
            <a:r>
              <a:rPr lang="en-US" sz="1200" b="1" dirty="0">
                <a:solidFill>
                  <a:srgbClr val="1A2733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/sendMessage?chat_id=</a:t>
            </a:r>
            <a:r>
              <a:rPr lang="en-US" sz="1200" b="1" dirty="0">
                <a:solidFill>
                  <a:srgbClr val="1A87BD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&lt;ChatID&gt;</a:t>
            </a:r>
            <a:r>
              <a:rPr lang="en-US" sz="1200" b="1" dirty="0">
                <a:solidFill>
                  <a:srgbClr val="1A2733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&amp;text=test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28803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→ 텔레그램의 내 봇 대화방에 </a:t>
            </a:r>
            <a:r>
              <a:rPr lang="en-US" sz="1100" b="1" dirty="0">
                <a:solidFill>
                  <a:srgbClr val="1F7A5A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"test"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라는 메시지가 도착하면 </a:t>
            </a:r>
            <a:r>
              <a:rPr lang="en-US" sz="1100" b="1" dirty="0">
                <a:solidFill>
                  <a:srgbClr val="1F7A5A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성공 ✓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2918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3291840"/>
            <a:ext cx="73152" cy="1097280"/>
          </a:xfrm>
          <a:prstGeom prst="rect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40080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5A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✓  </a:t>
            </a:r>
            <a:r>
              <a:rPr lang="en-US" sz="13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성공 시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브라우저:  </a:t>
            </a:r>
            <a:r>
              <a:rPr lang="en-US" sz="1050" b="1" dirty="0">
                <a:solidFill>
                  <a:srgbClr val="1F7A5A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"ok":true</a:t>
            </a:r>
            <a:r>
              <a:rPr lang="en-US" sz="10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 JSON 응답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텔레그램:  </a:t>
            </a:r>
            <a:r>
              <a:rPr lang="en-US" sz="10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내 봇에서 "test" 알림 도착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F7A5A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→ 매매동반자 시스템에 등록 준비 완료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329184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663440" y="3291840"/>
            <a:ext cx="73152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4846320" y="34107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✗  </a:t>
            </a:r>
            <a:r>
              <a:rPr lang="en-US" sz="13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실패 시 체크포인트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46320" y="3703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</a:t>
            </a:r>
            <a:r>
              <a:rPr lang="en-US" sz="1050" b="1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Unauthorized  </a:t>
            </a:r>
            <a:r>
              <a:rPr lang="en-US" sz="10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→ 토큰 오타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</a:t>
            </a:r>
            <a:r>
              <a:rPr lang="en-US" sz="1050" b="1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chat not found  </a:t>
            </a:r>
            <a:r>
              <a:rPr lang="en-US" sz="10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→ Chat ID 오타 또는 미대화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•  </a:t>
            </a:r>
            <a:r>
              <a:rPr lang="en-US" sz="10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토큰·ID 다시 복사  </a:t>
            </a:r>
            <a:r>
              <a:rPr lang="en-US" sz="105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후 재시도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11480" y="4430268"/>
            <a:ext cx="8321040" cy="310896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02920" y="44302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💡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이 테스트가 통과하면 자동매매 시스템이 "같은 방식" 으로 알림을 보낼 수 있다는 뜻입니다.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 Chat ID  발급 매뉴얼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37160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· 텔레그램 봇 매뉴얼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12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FINAL STEP  ·  매매동반자 시스템 연동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 &amp; Chat ID를 자동매매에 등록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두 값을 매매동반자 자동매매 설정 화면에 입력하면 — 끝.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828800"/>
            <a:ext cx="40690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73152" cy="24688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0080" y="2029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01.  매매동반자 시스템 등록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40080" y="2395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자동매매 설정 화면 → 알림 탭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743200"/>
            <a:ext cx="219456" cy="219456"/>
          </a:xfrm>
          <a:prstGeom prst="ellipse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0080" y="27432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2734056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자동매매 프로그램 실행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017520"/>
            <a:ext cx="219456" cy="219456"/>
          </a:xfrm>
          <a:prstGeom prst="ellipse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640080" y="3017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3008376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[설정] → [텔레그램 알림] 메뉴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3291840"/>
            <a:ext cx="219456" cy="219456"/>
          </a:xfrm>
          <a:prstGeom prst="ellipse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64008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4400" y="3282696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 Token 입력란에 </a:t>
            </a: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 붙여넣기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0080" y="3566160"/>
            <a:ext cx="219456" cy="219456"/>
          </a:xfrm>
          <a:prstGeom prst="ellipse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640080" y="3566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14400" y="3557016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Chat ID 입력란에 </a:t>
            </a: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ID 붙여넣기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3840480"/>
            <a:ext cx="219456" cy="219456"/>
          </a:xfrm>
          <a:prstGeom prst="ellipse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40080" y="3840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914400" y="3831336"/>
            <a:ext cx="3520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[테스트 전송] → "연결 성공" 확인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617720" y="1828800"/>
            <a:ext cx="40690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4617720" y="1828800"/>
            <a:ext cx="73152" cy="2468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4800600" y="2029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02.  보안 체크리스트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800600" y="2395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운용 중 반드시 지킬 3가지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00600" y="2788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166360" y="27706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 노출 금지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166360" y="29718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단톡방·블로그·깃허브 업로드 금지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800600" y="3246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5166360" y="32278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유출 시 즉시 재발급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166360" y="34290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BotFather → /revoke → 신규 토큰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800600" y="37033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5166360" y="36850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오프라인 백업 유지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166360" y="3886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비밀번호 관리 앱 또는 인쇄본 보관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11480" y="4366260"/>
            <a:ext cx="8321040" cy="411480"/>
          </a:xfrm>
          <a:prstGeom prst="rect">
            <a:avLst/>
          </a:prstGeom>
          <a:solidFill>
            <a:srgbClr val="E6F4EE"/>
          </a:solidFill>
          <a:ln w="12700">
            <a:solidFill>
              <a:srgbClr val="E6F4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502920" y="43662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5A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✓  </a:t>
            </a:r>
            <a:r>
              <a:rPr lang="en-US" sz="11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축하합니다!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이제 자동매매 시스템이 매수·매도·오류·일일 리포트를 실시간으로 텔레그램에 전송합니다.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 Chat ID  발급 매뉴얼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37160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· 텔레그램 봇 매뉴얼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13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APPENDIX  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트러블슈팅 FAQ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테스트가 실패하거나 봇이 메시지를 안 보낼 때 — 이 표를 먼저 확인하세요.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57200" y="1783080"/>
            <a:ext cx="73152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4008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51560" y="19293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"Unauthorized" 응답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" y="23500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원인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 오타 또는 잘못된 토큰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2651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5A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해결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토큰을 다시 정확히 복사 · 양옆 공백 제거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17720" y="1783080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617720" y="1783080"/>
            <a:ext cx="73152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800600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212080" y="192938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"chat not found" 응답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800600" y="23500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원인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Chat ID 오타 또는 봇과 미대화 상태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00600" y="26517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5A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해결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Step 9 (봇 대화 시작) 다시 실행 후 Chat ID 재발급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200400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9"/>
          <p:cNvSpPr/>
          <p:nvPr/>
        </p:nvSpPr>
        <p:spPr>
          <a:xfrm>
            <a:off x="457200" y="3200400"/>
            <a:ext cx="73152" cy="12801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64008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📭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051560" y="33467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getUpdates 결과가 "result":[]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40080" y="37673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원인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봇에게 메시지를 한 번도 보낸 적이 없음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0080" y="40690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5A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해결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텔레그램에서 내 봇에 "hi" 등 메시지 전송 후 재시도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617720" y="3200400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5"/>
          <p:cNvSpPr/>
          <p:nvPr/>
        </p:nvSpPr>
        <p:spPr>
          <a:xfrm>
            <a:off x="4617720" y="3200400"/>
            <a:ext cx="73152" cy="12801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480060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212080" y="33467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"Too Many Requests" 응답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4800600" y="376732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원인  </a:t>
            </a:r>
            <a:r>
              <a:rPr lang="en-US" sz="1100" dirty="0">
                <a:solidFill>
                  <a:srgbClr val="37415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API 호출 제한 (초당 30회)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00600" y="40690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F7A5A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해결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잠시 대기 후 재시도 · 자동매매는 1초당 1메시지 권장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11480" y="4430268"/>
            <a:ext cx="8321040" cy="310896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502920" y="44302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💡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위 4가지로 해결되지 않으면 토큰을 /revoke 한 뒤 신규 발급받아 처음부터 다시 시도해 보세요.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텔레그램 봇 토큰 &amp; Chat ID  발급 매뉴얼</a:t>
            </a:r>
            <a:endParaRPr lang="en-US" sz="900" dirty="0"/>
          </a:p>
        </p:txBody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"/>
            <a:ext cx="137160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48508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매매동반자 · 텔레그램 봇 매뉴얼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8046720" y="4850892"/>
            <a:ext cx="777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14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943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AABEE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APPENDIX  B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BotFather 명령어 치트시트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BotFather 채팅창에서 입력 가능 — 봇 관리에 자주 쓰는 명령어 모음.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783080"/>
            <a:ext cx="8229600" cy="329184"/>
          </a:xfrm>
          <a:prstGeom prst="rect">
            <a:avLst/>
          </a:prstGeom>
          <a:solidFill>
            <a:srgbClr val="14283C"/>
          </a:solidFill>
          <a:ln w="12700">
            <a:solidFill>
              <a:srgbClr val="14283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40080" y="17830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명령어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286000" y="17830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기능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0" y="178308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961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이런 상황에 사용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112264"/>
            <a:ext cx="8229600" cy="310896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57200" y="2112264"/>
            <a:ext cx="54864" cy="310896"/>
          </a:xfrm>
          <a:prstGeom prst="rect">
            <a:avLst/>
          </a:prstGeom>
          <a:solidFill>
            <a:srgbClr val="2AABEE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57200" y="242316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40080" y="21122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BEE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/newbot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286000" y="21122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새 봇 생성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0" y="21122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이미 등록된 — Step 4 참조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2423160"/>
            <a:ext cx="54864" cy="310896"/>
          </a:xfrm>
          <a:prstGeom prst="rect">
            <a:avLst/>
          </a:prstGeom>
          <a:solidFill>
            <a:srgbClr val="2AABEE"/>
          </a:solidFill>
          <a:ln w="12700">
            <a:solidFill>
              <a:srgbClr val="2AAB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457200" y="2734056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640080" y="242316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ABEE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/mybots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2286000" y="24231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내가 만든 봇 목록 열기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0" y="24231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여러 봇을 운용 중일 때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2734056"/>
            <a:ext cx="8229600" cy="310896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457200" y="2734056"/>
            <a:ext cx="54864" cy="31089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457200" y="3044952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40080" y="273405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961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/token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286000" y="273405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기존 토큰 다시 받기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0" y="27340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토큰을 분실했을 때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57200" y="3044952"/>
            <a:ext cx="54864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457200" y="3355848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640080" y="30449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/revoke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286000" y="30449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 재발급 (기존 무효화)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486400" y="30449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토큰 유출 의심 시 즉시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457200" y="3355848"/>
            <a:ext cx="8229600" cy="310896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3"/>
          <p:cNvSpPr/>
          <p:nvPr/>
        </p:nvSpPr>
        <p:spPr>
          <a:xfrm>
            <a:off x="457200" y="3355848"/>
            <a:ext cx="54864" cy="310896"/>
          </a:xfrm>
          <a:prstGeom prst="rect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4"/>
          <p:cNvSpPr/>
          <p:nvPr/>
        </p:nvSpPr>
        <p:spPr>
          <a:xfrm>
            <a:off x="457200" y="3666744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640080" y="335584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A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/setname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2286000" y="33558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봇 표시 이름 변경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486400" y="3355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Display Name 수정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57200" y="3666744"/>
            <a:ext cx="54864" cy="310896"/>
          </a:xfrm>
          <a:prstGeom prst="rect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640080" y="366674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A5A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/setuserpic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2286000" y="3666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봇 프로필 사진 설정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486400" y="36667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내 봇 식별성 높이기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457200" y="3977640"/>
            <a:ext cx="8229600" cy="310896"/>
          </a:xfrm>
          <a:prstGeom prst="rect">
            <a:avLst/>
          </a:prstGeom>
          <a:solidFill>
            <a:srgbClr val="FAFBFC"/>
          </a:solidFill>
          <a:ln w="12700">
            <a:solidFill>
              <a:srgbClr val="FAFB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4"/>
          <p:cNvSpPr/>
          <p:nvPr/>
        </p:nvSpPr>
        <p:spPr>
          <a:xfrm>
            <a:off x="457200" y="3977640"/>
            <a:ext cx="54864" cy="3108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5"/>
          <p:cNvSpPr/>
          <p:nvPr/>
        </p:nvSpPr>
        <p:spPr>
          <a:xfrm>
            <a:off x="457200" y="4288536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/>
          <p:nvPr/>
        </p:nvSpPr>
        <p:spPr>
          <a:xfrm>
            <a:off x="640080" y="39776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, Courier New" pitchFamily="34" charset="0"/>
                <a:ea typeface="Consolas, Courier New" pitchFamily="34" charset="-122"/>
                <a:cs typeface="Consolas, Courier New" pitchFamily="34" charset="-120"/>
              </a:rPr>
              <a:t>/deletebot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2286000" y="397764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봇 완전 삭제 (복구 불가)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486400" y="397764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더 이상 쓰지 않을 때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411480" y="4430268"/>
            <a:ext cx="8321040" cy="310896"/>
          </a:xfrm>
          <a:prstGeom prst="rect">
            <a:avLst/>
          </a:prstGeom>
          <a:solidFill>
            <a:srgbClr val="F7EFD8"/>
          </a:solidFill>
          <a:ln w="12700">
            <a:solidFill>
              <a:srgbClr val="F7EF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0"/>
          <p:cNvSpPr/>
          <p:nvPr/>
        </p:nvSpPr>
        <p:spPr>
          <a:xfrm>
            <a:off x="502920" y="443026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7338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💡  </a:t>
            </a:r>
            <a:r>
              <a:rPr lang="en-US" sz="1100" dirty="0">
                <a:solidFill>
                  <a:srgbClr val="1A2733"/>
                </a:solidFill>
                <a:latin typeface="Pretendard, Malgun Gothic, Arial" pitchFamily="34" charset="0"/>
                <a:ea typeface="Pretendard, Malgun Gothic, Arial" pitchFamily="34" charset="-122"/>
                <a:cs typeface="Pretendard, Malgun Gothic, Arial" pitchFamily="34" charset="-120"/>
              </a:rPr>
              <a:t>BotFather 채팅창에서 명령어 한 줄 입력하면 안내 메시지가 단계별로 표시됩니다 — 그대로 따라하면 됩니다.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1836</Words>
  <Application>Microsoft Office PowerPoint</Application>
  <PresentationFormat>화면 슬라이드 쇼(16:9)</PresentationFormat>
  <Paragraphs>326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8" baseType="lpstr">
      <vt:lpstr>Consolas, Courier New</vt:lpstr>
      <vt:lpstr>Pretendard, Malgun Gothic, Arial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텔레그램 봇 토큰 &amp; Chat ID 발급 매뉴얼</dc:title>
  <dc:subject>PptxGenJS Presentation</dc:subject>
  <dc:creator>매매동반자</dc:creator>
  <cp:lastModifiedBy>류영미</cp:lastModifiedBy>
  <cp:revision>3</cp:revision>
  <dcterms:created xsi:type="dcterms:W3CDTF">2026-05-18T06:26:09Z</dcterms:created>
  <dcterms:modified xsi:type="dcterms:W3CDTF">2026-05-18T06:36:50Z</dcterms:modified>
</cp:coreProperties>
</file>